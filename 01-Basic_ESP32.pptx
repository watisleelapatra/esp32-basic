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1" r:id="rId3"/>
    <p:sldId id="304" r:id="rId4"/>
    <p:sldId id="266" r:id="rId5"/>
    <p:sldId id="267" r:id="rId6"/>
    <p:sldId id="257" r:id="rId7"/>
    <p:sldId id="258" r:id="rId8"/>
    <p:sldId id="265" r:id="rId9"/>
    <p:sldId id="264" r:id="rId10"/>
    <p:sldId id="272" r:id="rId11"/>
    <p:sldId id="274" r:id="rId12"/>
    <p:sldId id="275" r:id="rId13"/>
    <p:sldId id="305" r:id="rId14"/>
    <p:sldId id="276" r:id="rId15"/>
    <p:sldId id="306" r:id="rId16"/>
    <p:sldId id="277" r:id="rId17"/>
    <p:sldId id="278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90" r:id="rId26"/>
    <p:sldId id="268" r:id="rId27"/>
    <p:sldId id="297" r:id="rId28"/>
    <p:sldId id="298" r:id="rId29"/>
    <p:sldId id="299" r:id="rId30"/>
    <p:sldId id="301" r:id="rId31"/>
    <p:sldId id="291" r:id="rId32"/>
    <p:sldId id="292" r:id="rId33"/>
    <p:sldId id="293" r:id="rId34"/>
    <p:sldId id="300" r:id="rId35"/>
    <p:sldId id="294" r:id="rId36"/>
    <p:sldId id="295" r:id="rId37"/>
    <p:sldId id="296" r:id="rId38"/>
    <p:sldId id="302" r:id="rId39"/>
    <p:sldId id="303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6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9282C-4FDC-4407-B0D5-838BD18881AD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B4170-AC01-4C95-A33A-4F893413A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4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EB79F8B1-879A-4F81-87C9-B3AB0F9B8A1F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10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184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F4ACBEFB-2F7E-411E-B485-C588EA1EB8A3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11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25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786" y="695134"/>
            <a:ext cx="4847549" cy="3426794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253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1C368B91-FBCB-4E3E-8140-DADBC9128D76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12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1C368B91-FBCB-4E3E-8140-DADBC9128D76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13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836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AD1D4BBA-5648-4A9F-A17D-2B57B4CC5DE2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14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66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1C368B91-FBCB-4E3E-8140-DADBC9128D76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15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102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92F3CEE9-360E-4888-A496-FD6720A0C8E1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16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286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786" y="695134"/>
            <a:ext cx="4847549" cy="3426794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D18A45EE-E1B4-42A0-87D2-558BE44930E0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17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07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786" y="695134"/>
            <a:ext cx="4847549" cy="3426794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3A6C5394-2CAF-40AC-AE26-1A559C492671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18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48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302FF240-41CE-47C6-98B7-8A60F9799414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19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0731C925-2267-4DF2-8D18-6B74CD742658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20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389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90C4B909-9BEB-4C11-95B3-4D8F9229DE93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21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09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68825" cy="34258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5789E6F3-5687-4F08-A08C-E4C6D07FC11B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22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30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786" y="695134"/>
            <a:ext cx="4847549" cy="3426794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3AC6B2CA-EBAA-412F-AFBD-8E393C75E0FA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23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50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786" y="695134"/>
            <a:ext cx="4847549" cy="3426794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6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204550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605377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006204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407032" indent="-200414" defTabSz="400827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00827" algn="l"/>
                <a:tab pos="801654" algn="l"/>
                <a:tab pos="1202482" algn="l"/>
                <a:tab pos="1603309" algn="l"/>
                <a:tab pos="2004136" algn="l"/>
                <a:tab pos="2404963" algn="l"/>
                <a:tab pos="2805791" algn="l"/>
                <a:tab pos="3206618" algn="l"/>
                <a:tab pos="3607445" algn="l"/>
                <a:tab pos="4008272" algn="l"/>
                <a:tab pos="4409100" algn="l"/>
                <a:tab pos="4809927" algn="l"/>
                <a:tab pos="5210754" algn="l"/>
                <a:tab pos="5611581" algn="l"/>
                <a:tab pos="6012409" algn="l"/>
                <a:tab pos="6413236" algn="l"/>
                <a:tab pos="6814063" algn="l"/>
                <a:tab pos="7214890" algn="l"/>
                <a:tab pos="7615718" algn="l"/>
                <a:tab pos="8016545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>
              <a:buClrTx/>
              <a:buFontTx/>
              <a:buNone/>
            </a:pPr>
            <a:fld id="{7FE98443-FE7F-4B2E-99F6-8EE3E3926DFD}" type="slidenum">
              <a:rPr lang="en-US" altLang="en-US">
                <a:solidFill>
                  <a:srgbClr val="000000"/>
                </a:solidFill>
                <a:latin typeface="Times New Roman" pitchFamily="18" charset="0"/>
                <a:ea typeface="DejaVu Sans" charset="0"/>
                <a:cs typeface="DejaVu Sans" charset="0"/>
              </a:rPr>
              <a:pPr>
                <a:buClrTx/>
                <a:buFontTx/>
                <a:buNone/>
              </a:pPr>
              <a:t>24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DejaVu Sans" charset="0"/>
              <a:cs typeface="DejaVu Sans" charset="0"/>
            </a:endParaRPr>
          </a:p>
        </p:txBody>
      </p:sp>
      <p:sp>
        <p:nvSpPr>
          <p:cNvPr id="471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786" y="695134"/>
            <a:ext cx="4847549" cy="3426794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512" y="4343231"/>
            <a:ext cx="5485536" cy="411378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62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6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4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7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0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4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1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5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65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35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11058-B257-4435-A3DA-76C1D1754B1F}" type="datetimeFigureOut">
              <a:rPr lang="en-US" smtClean="0"/>
              <a:t>11/16/2024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BEE49-6C85-4641-88EC-F6C03E0FB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3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arduino.cc/en/Main/Software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.wikipedia.org/wiki/Datei:Symbol_LED.svg" TargetMode="External"/><Relationship Id="rId5" Type="http://schemas.openxmlformats.org/officeDocument/2006/relationships/image" Target="../media/image13.png"/><Relationship Id="rId4" Type="http://schemas.openxmlformats.org/officeDocument/2006/relationships/hyperlink" Target="https://www.wisc-online.com/assetrepository/viewasset?id=4678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.wikipedia.org/wiki/Datei:Symbol_LED.svg" TargetMode="External"/><Relationship Id="rId5" Type="http://schemas.openxmlformats.org/officeDocument/2006/relationships/image" Target="../media/image19.png"/><Relationship Id="rId4" Type="http://schemas.openxmlformats.org/officeDocument/2006/relationships/hyperlink" Target="https://www.wisc-online.com/assetrepository/viewasset?id=4678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.wikipedia.org/wiki/Datei:Symbol_LED.svg" TargetMode="External"/><Relationship Id="rId5" Type="http://schemas.openxmlformats.org/officeDocument/2006/relationships/image" Target="../media/image19.png"/><Relationship Id="rId4" Type="http://schemas.openxmlformats.org/officeDocument/2006/relationships/hyperlink" Target="https://www.wisc-online.com/assetrepository/viewasset?id=4678" TargetMode="Externa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www.wisc-online.com/assetrepository/viewasset?id=4678" TargetMode="External"/><Relationship Id="rId7" Type="http://schemas.openxmlformats.org/officeDocument/2006/relationships/hyperlink" Target="http://electronics.stackexchange.com/questions/109956/push-button-switch-symbo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de.wikipedia.org/wiki/Datei:Symbol_LED.svg" TargetMode="External"/><Relationship Id="rId10" Type="http://schemas.openxmlformats.org/officeDocument/2006/relationships/image" Target="../media/image23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www.wisc-online.com/assetrepository/viewasset?id=4678" TargetMode="External"/><Relationship Id="rId7" Type="http://schemas.openxmlformats.org/officeDocument/2006/relationships/hyperlink" Target="http://electronics.stackexchange.com/questions/109956/push-button-switch-symbo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de.wikipedia.org/wiki/Datei:Symbol_LED.svg" TargetMode="Externa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www.wisc-online.com/assetrepository/viewasset?id=4678" TargetMode="External"/><Relationship Id="rId7" Type="http://schemas.openxmlformats.org/officeDocument/2006/relationships/hyperlink" Target="http://electronics.stackexchange.com/questions/109956/push-button-switch-symbol" TargetMode="External"/><Relationship Id="rId12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6.png"/><Relationship Id="rId5" Type="http://schemas.openxmlformats.org/officeDocument/2006/relationships/hyperlink" Target="https://de.wikipedia.org/wiki/Datei:Symbol_LED.svg" TargetMode="External"/><Relationship Id="rId10" Type="http://schemas.openxmlformats.org/officeDocument/2006/relationships/hyperlink" Target="https://de.wikipedia.org/wiki/Potentiometer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hyperlink" Target="https://www.wisc-online.com/assetrepository/viewasset?id=4678" TargetMode="External"/><Relationship Id="rId7" Type="http://schemas.openxmlformats.org/officeDocument/2006/relationships/hyperlink" Target="http://electronics.stackexchange.com/questions/109956/push-button-switch-symbo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hyperlink" Target="https://de.wikipedia.org/wiki/Datei:Symbol_LED.svg" TargetMode="External"/><Relationship Id="rId10" Type="http://schemas.openxmlformats.org/officeDocument/2006/relationships/hyperlink" Target="https://de.wikipedia.org/wiki/Potentiometer" TargetMode="External"/><Relationship Id="rId4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sc-online.com/assetrepository/viewasset?id=4678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hyperlink" Target="https://de.wikipedia.org/wiki/Datei:Symbol_LED.svg" TargetMode="Externa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FDEF92E-2107-41ED-81B9-545AD380A2F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5137" y="2089604"/>
            <a:ext cx="7772400" cy="1470025"/>
          </a:xfrm>
        </p:spPr>
        <p:txBody>
          <a:bodyPr>
            <a:normAutofit fontScale="90000"/>
          </a:bodyPr>
          <a:lstStyle/>
          <a:p>
            <a:br>
              <a:rPr lang="en-US" sz="5300" b="1" dirty="0">
                <a:latin typeface="TH Sarabun New" pitchFamily="34" charset="-34"/>
                <a:cs typeface="TH Sarabun New" pitchFamily="34" charset="-34"/>
              </a:rPr>
            </a:br>
            <a:br>
              <a:rPr lang="en-US" sz="5300" b="1" dirty="0">
                <a:latin typeface="TH Sarabun New" pitchFamily="34" charset="-34"/>
                <a:cs typeface="TH Sarabun New" pitchFamily="34" charset="-34"/>
              </a:rPr>
            </a:br>
            <a:r>
              <a:rPr lang="en-US" sz="73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Arduino Workshop</a:t>
            </a:r>
            <a:br>
              <a:rPr lang="en-US" sz="36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(ESP32 Basic Level)</a:t>
            </a:r>
            <a:br>
              <a:rPr lang="en-US" sz="36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th-TH" sz="4900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  <a:t>ดร. วาธิส ลีลาภัทร</a:t>
            </a:r>
            <a:br>
              <a:rPr lang="en-US" sz="4000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</a:br>
            <a:r>
              <a:rPr lang="th-TH" sz="4000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  <a:t>ภาควิชาวิศวกรรมคอมพิวเตอร์ คณะวิศวกรรมศาสตร์</a:t>
            </a:r>
            <a:br>
              <a:rPr lang="th-TH" sz="4000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</a:br>
            <a:r>
              <a:rPr lang="th-TH" b="1" dirty="0">
                <a:solidFill>
                  <a:schemeClr val="tx2">
                    <a:lumMod val="75000"/>
                  </a:schemeClr>
                </a:solidFill>
                <a:latin typeface="TH Sarabun New" pitchFamily="34" charset="-34"/>
                <a:cs typeface="TH Sarabun New" pitchFamily="34" charset="-34"/>
              </a:rPr>
              <a:t>มหาวิทยาลัยขอนแก่น</a:t>
            </a:r>
            <a:endParaRPr lang="en-US" sz="4000" b="1" dirty="0">
              <a:solidFill>
                <a:schemeClr val="tx2">
                  <a:lumMod val="75000"/>
                </a:schemeClr>
              </a:solidFill>
              <a:latin typeface="TH Sarabun New" pitchFamily="34" charset="-34"/>
              <a:cs typeface="TH Sarabun New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9208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9379165-0FFA-4D8C-AD0D-9046EDE73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Hardware : ESP32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FFA47-5D98-46B5-ACF5-DFEDD9D37723}"/>
              </a:ext>
            </a:extLst>
          </p:cNvPr>
          <p:cNvSpPr txBox="1"/>
          <p:nvPr/>
        </p:nvSpPr>
        <p:spPr>
          <a:xfrm>
            <a:off x="457200" y="990600"/>
            <a:ext cx="8458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tahoma" panose="020B0604030504040204" pitchFamily="34" charset="0"/>
              </a:rPr>
              <a:t>ESP32 Key Features    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</a:t>
            </a:r>
            <a:r>
              <a:rPr lang="en-US" dirty="0" err="1">
                <a:effectLst/>
                <a:latin typeface="tahoma" panose="020B0604030504040204" pitchFamily="34" charset="0"/>
              </a:rPr>
              <a:t>Xtensa</a:t>
            </a:r>
            <a:r>
              <a:rPr lang="en-US" dirty="0">
                <a:effectLst/>
                <a:latin typeface="tahoma" panose="020B0604030504040204" pitchFamily="34" charset="0"/>
              </a:rPr>
              <a:t>® Dual-Core 32-bit LX6 microprocessors, up to 600 DMIPS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Integrated 520 KB SRAM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Integrated 802.11BGN HT40 Wi-Fi transceiver, baseband, stack and LWIP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Integrated dual mode Bluetooth (classic and BLE)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4 </a:t>
            </a:r>
            <a:r>
              <a:rPr lang="en-US" dirty="0" err="1">
                <a:effectLst/>
                <a:latin typeface="tahoma" panose="020B0604030504040204" pitchFamily="34" charset="0"/>
              </a:rPr>
              <a:t>MByte</a:t>
            </a:r>
            <a:r>
              <a:rPr lang="en-US" dirty="0">
                <a:effectLst/>
                <a:latin typeface="tahoma" panose="020B0604030504040204" pitchFamily="34" charset="0"/>
              </a:rPr>
              <a:t> flash (32Mbit)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7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9379165-0FFA-4D8C-AD0D-9046EDE73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Hardware : ESP32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7FFA47-5D98-46B5-ACF5-DFEDD9D37723}"/>
              </a:ext>
            </a:extLst>
          </p:cNvPr>
          <p:cNvSpPr txBox="1"/>
          <p:nvPr/>
        </p:nvSpPr>
        <p:spPr>
          <a:xfrm>
            <a:off x="457200" y="990600"/>
            <a:ext cx="8458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tahoma" panose="020B0604030504040204" pitchFamily="34" charset="0"/>
              </a:rPr>
              <a:t>ESP32 Key Features    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</a:t>
            </a:r>
            <a:r>
              <a:rPr lang="en-US" dirty="0" err="1">
                <a:effectLst/>
                <a:latin typeface="tahoma" panose="020B0604030504040204" pitchFamily="34" charset="0"/>
              </a:rPr>
              <a:t>Xtensa</a:t>
            </a:r>
            <a:r>
              <a:rPr lang="en-US" dirty="0">
                <a:effectLst/>
                <a:latin typeface="tahoma" panose="020B0604030504040204" pitchFamily="34" charset="0"/>
              </a:rPr>
              <a:t>® Dual-Core 32-bit LX6 microprocessors, up to 600 DMIPS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Integrated 520 KB SRAM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Integrated 802.11BGN HT40 Wi-Fi transceiver, baseband, stack and LWIP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Integrated dual mode Bluetooth (classic and BLE)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ahoma" panose="020B0604030504040204" pitchFamily="34" charset="0"/>
              </a:rPr>
              <a:t> 4 </a:t>
            </a:r>
            <a:r>
              <a:rPr lang="en-US" dirty="0" err="1">
                <a:effectLst/>
                <a:latin typeface="tahoma" panose="020B0604030504040204" pitchFamily="34" charset="0"/>
              </a:rPr>
              <a:t>MByte</a:t>
            </a:r>
            <a:r>
              <a:rPr lang="en-US" dirty="0">
                <a:effectLst/>
                <a:latin typeface="tahoma" panose="020B0604030504040204" pitchFamily="34" charset="0"/>
              </a:rPr>
              <a:t> flash (32Mbit)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413EE5-F3AD-498E-9C94-6120A1DBD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326725"/>
            <a:ext cx="4876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619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9379165-0FFA-4D8C-AD0D-9046EDE73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ESP32 DEVKIT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58DF30-71F2-408D-8B62-23086DBC0623}"/>
              </a:ext>
            </a:extLst>
          </p:cNvPr>
          <p:cNvSpPr/>
          <p:nvPr/>
        </p:nvSpPr>
        <p:spPr>
          <a:xfrm>
            <a:off x="152400" y="914400"/>
            <a:ext cx="891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ESP-WROOM-32 </a:t>
            </a:r>
            <a:r>
              <a:rPr lang="en-US" sz="2400" b="1" dirty="0" err="1"/>
              <a:t>DevKit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utilizes ESP32 chip, 240MHz, RAM 512KB, 4MB flash 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WiFi</a:t>
            </a:r>
            <a:r>
              <a:rPr lang="en-US" sz="2400" dirty="0"/>
              <a:t> 2.4GHz / Bluetooth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1EF424-6045-76CC-2AD9-A362C0665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814" y="2813585"/>
            <a:ext cx="4067578" cy="313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115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DC42E1-4594-4F67-8CAF-909A94702B73}"/>
              </a:ext>
            </a:extLst>
          </p:cNvPr>
          <p:cNvSpPr txBox="1"/>
          <p:nvPr/>
        </p:nvSpPr>
        <p:spPr>
          <a:xfrm>
            <a:off x="3768094" y="6172200"/>
            <a:ext cx="164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Micro USB Port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5FFBC7F9-CAE5-41D8-A978-6342DAB24476}"/>
              </a:ext>
            </a:extLst>
          </p:cNvPr>
          <p:cNvSpPr/>
          <p:nvPr/>
        </p:nvSpPr>
        <p:spPr>
          <a:xfrm>
            <a:off x="4474628" y="5734050"/>
            <a:ext cx="228600" cy="400050"/>
          </a:xfrm>
          <a:prstGeom prst="up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CC16FBAD-34F9-DEF3-ED7C-652F09288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ESP32 DEVKIT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474362-68E7-EB4A-D22D-5B598F215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0483"/>
            <a:ext cx="9144000" cy="447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264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914400"/>
            <a:ext cx="8915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Arduino</a:t>
            </a:r>
            <a:r>
              <a:rPr lang="en-US" sz="2400" b="1" dirty="0"/>
              <a:t> IDE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for writing, compiling and downloading code into ESP32 board.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 to </a:t>
            </a:r>
            <a:r>
              <a:rPr lang="en-US" sz="2400" dirty="0">
                <a:hlinkClick r:id="rId2"/>
              </a:rPr>
              <a:t>arduino.cc/en/Main/Software</a:t>
            </a:r>
            <a:r>
              <a:rPr lang="en-US" sz="2400" dirty="0"/>
              <a:t>, download &amp; install on your PC.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2F1A6-CD67-481D-AC4C-F97999334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44" y="2971800"/>
            <a:ext cx="4248911" cy="370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4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8236" y="685800"/>
            <a:ext cx="83192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Click on Board icon on Arduino IDE, type ESP32 in search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Look for </a:t>
            </a:r>
            <a:r>
              <a:rPr lang="en-US" sz="2400" b="1" dirty="0"/>
              <a:t>esp32 by </a:t>
            </a:r>
            <a:r>
              <a:rPr lang="en-US" sz="2400" b="1" dirty="0" err="1"/>
              <a:t>Espressif</a:t>
            </a:r>
            <a:r>
              <a:rPr lang="en-US" sz="2400" b="1" dirty="0"/>
              <a:t> Systems</a:t>
            </a:r>
            <a:r>
              <a:rPr lang="en-US" sz="2400" dirty="0"/>
              <a:t>, then click on </a:t>
            </a:r>
            <a:r>
              <a:rPr lang="en-US" sz="2400" b="1" dirty="0"/>
              <a:t>INSTALL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9165883-40DC-4A9C-AD1E-F64B57953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itchFamily="34" charset="0"/>
                <a:cs typeface="Arial" pitchFamily="34" charset="0"/>
              </a:rPr>
              <a:t>Add ESP32 Board Support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888264" y="1624373"/>
            <a:ext cx="3874761" cy="4415670"/>
            <a:chOff x="1888264" y="1624373"/>
            <a:chExt cx="3874761" cy="441567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r="80000" b="40484"/>
            <a:stretch/>
          </p:blipFill>
          <p:spPr>
            <a:xfrm>
              <a:off x="3145331" y="1624373"/>
              <a:ext cx="2617694" cy="4381702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3350239" y="4402951"/>
              <a:ext cx="2412786" cy="1603124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189950" y="2750884"/>
              <a:ext cx="883663" cy="26894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ight Arrow 7"/>
            <p:cNvSpPr/>
            <p:nvPr/>
          </p:nvSpPr>
          <p:spPr>
            <a:xfrm rot="10800000">
              <a:off x="4282568" y="2481943"/>
              <a:ext cx="883663" cy="268941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8264" y="2700688"/>
              <a:ext cx="36740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1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66231" y="2431748"/>
              <a:ext cx="36740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2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66143" y="5516823"/>
              <a:ext cx="36740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3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3958" y="5516823"/>
              <a:ext cx="828675" cy="34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69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1500" y="578223"/>
            <a:ext cx="8001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Go to Tools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b="1" dirty="0">
                <a:solidFill>
                  <a:srgbClr val="FF0000"/>
                </a:solidFill>
                <a:sym typeface="Wingdings" pitchFamily="2" charset="2"/>
              </a:rPr>
              <a:t>Board:  esp32  ESP32 Dev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Go to Tools  </a:t>
            </a:r>
            <a:r>
              <a:rPr lang="en-US" sz="2000" b="1" dirty="0">
                <a:sym typeface="Wingdings" pitchFamily="2" charset="2"/>
              </a:rPr>
              <a:t>Port:  </a:t>
            </a:r>
            <a:r>
              <a:rPr lang="en-US" sz="2000" b="1" dirty="0" err="1">
                <a:sym typeface="Wingdings" pitchFamily="2" charset="2"/>
              </a:rPr>
              <a:t>COM</a:t>
            </a:r>
            <a:r>
              <a:rPr lang="en-US" sz="2000" b="1" i="1" dirty="0" err="1">
                <a:solidFill>
                  <a:srgbClr val="FF0000"/>
                </a:solidFill>
                <a:sym typeface="Wingdings" pitchFamily="2" charset="2"/>
              </a:rPr>
              <a:t>xx</a:t>
            </a:r>
            <a:r>
              <a:rPr lang="en-US" sz="2000" dirty="0">
                <a:sym typeface="Wingdings" pitchFamily="2" charset="2"/>
              </a:rPr>
              <a:t>	(</a:t>
            </a:r>
            <a:r>
              <a:rPr lang="en-US" sz="2000" i="1" dirty="0">
                <a:solidFill>
                  <a:srgbClr val="FF0000"/>
                </a:solidFill>
                <a:sym typeface="Wingdings" pitchFamily="2" charset="2"/>
              </a:rPr>
              <a:t>xx</a:t>
            </a:r>
            <a:r>
              <a:rPr lang="en-US" sz="2000" dirty="0">
                <a:sym typeface="Wingdings" pitchFamily="2" charset="2"/>
              </a:rPr>
              <a:t> is a number shown on your PC)</a:t>
            </a:r>
            <a:endParaRPr lang="en-US" sz="200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A67EE66-AB42-4694-8692-463268F2B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-107577"/>
            <a:ext cx="7772400" cy="6858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Add ESP32 Board Support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9063" b="36666"/>
          <a:stretch/>
        </p:blipFill>
        <p:spPr>
          <a:xfrm>
            <a:off x="305050" y="1727929"/>
            <a:ext cx="8762499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7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6764" y="523220"/>
            <a:ext cx="8001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To test installation:</a:t>
            </a:r>
          </a:p>
          <a:p>
            <a:r>
              <a:rPr lang="en-US" sz="2000" dirty="0"/>
              <a:t>	- Go to: </a:t>
            </a:r>
            <a:r>
              <a:rPr lang="en-US" sz="2400" b="1" dirty="0"/>
              <a:t>File </a:t>
            </a:r>
            <a:r>
              <a:rPr lang="en-US" sz="2400" b="1" dirty="0">
                <a:sym typeface="Wingdings" pitchFamily="2" charset="2"/>
              </a:rPr>
              <a:t> Examples  01.Basics  Blink</a:t>
            </a:r>
            <a:endParaRPr lang="en-US" sz="2000" b="1" dirty="0">
              <a:sym typeface="Wingdings" pitchFamily="2" charset="2"/>
            </a:endParaRPr>
          </a:p>
          <a:p>
            <a:r>
              <a:rPr lang="en-US" sz="2000" dirty="0">
                <a:sym typeface="Wingdings" pitchFamily="2" charset="2"/>
              </a:rPr>
              <a:t>	- At line 24, type:</a:t>
            </a:r>
          </a:p>
          <a:p>
            <a:r>
              <a:rPr lang="en-US" sz="2000" dirty="0">
                <a:sym typeface="Wingdings" pitchFamily="2" charset="2"/>
              </a:rPr>
              <a:t>			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sym typeface="Wingdings" pitchFamily="2" charset="2"/>
              </a:rPr>
              <a:t># define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sym typeface="Wingdings" pitchFamily="2" charset="2"/>
              </a:rPr>
              <a:t>LED_BUILTIN</a:t>
            </a:r>
            <a:r>
              <a:rPr lang="en-US" sz="2800" b="1" dirty="0">
                <a:sym typeface="Wingdings" pitchFamily="2" charset="2"/>
              </a:rPr>
              <a:t>  2 </a:t>
            </a:r>
            <a:endParaRPr lang="en-US" sz="2000" b="1" dirty="0">
              <a:sym typeface="Wingdings" pitchFamily="2" charset="2"/>
            </a:endParaRPr>
          </a:p>
          <a:p>
            <a:r>
              <a:rPr lang="en-US" sz="2000" dirty="0">
                <a:sym typeface="Wingdings" pitchFamily="2" charset="2"/>
              </a:rPr>
              <a:t>	</a:t>
            </a:r>
          </a:p>
          <a:p>
            <a:r>
              <a:rPr lang="en-US" sz="2000" dirty="0">
                <a:sym typeface="Wingdings" pitchFamily="2" charset="2"/>
              </a:rPr>
              <a:t>	- Click on download icon</a:t>
            </a:r>
          </a:p>
          <a:p>
            <a:r>
              <a:rPr lang="en-US" sz="2000" dirty="0">
                <a:sym typeface="Wingdings" pitchFamily="2" charset="2"/>
              </a:rPr>
              <a:t>	- You should see the Blue LED blinking on ESP32 Board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4225783" y="2063470"/>
            <a:ext cx="491873" cy="482948"/>
            <a:chOff x="4419600" y="1207376"/>
            <a:chExt cx="457200" cy="457200"/>
          </a:xfrm>
        </p:grpSpPr>
        <p:sp>
          <p:nvSpPr>
            <p:cNvPr id="4" name="Oval 3"/>
            <p:cNvSpPr/>
            <p:nvPr/>
          </p:nvSpPr>
          <p:spPr>
            <a:xfrm>
              <a:off x="4419600" y="1207376"/>
              <a:ext cx="457200" cy="4572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ight Arrow 2"/>
            <p:cNvSpPr/>
            <p:nvPr/>
          </p:nvSpPr>
          <p:spPr>
            <a:xfrm>
              <a:off x="4495800" y="1321676"/>
              <a:ext cx="304800" cy="228600"/>
            </a:xfrm>
            <a:prstGeom prst="rightArrow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/>
          <p:cNvSpPr/>
          <p:nvPr/>
        </p:nvSpPr>
        <p:spPr>
          <a:xfrm>
            <a:off x="3125609" y="0"/>
            <a:ext cx="41491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Test ESP32 Board 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44" y="3429000"/>
            <a:ext cx="7105650" cy="2743200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 rot="10800000">
            <a:off x="5996197" y="3738517"/>
            <a:ext cx="2047285" cy="477431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90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/>
          <p:cNvSpPr txBox="1">
            <a:spLocks noChangeArrowheads="1"/>
          </p:cNvSpPr>
          <p:nvPr/>
        </p:nvSpPr>
        <p:spPr bwMode="auto">
          <a:xfrm>
            <a:off x="2306880" y="79209"/>
            <a:ext cx="453681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Arduino Programming</a:t>
            </a:r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1475426" y="2570671"/>
            <a:ext cx="6859369" cy="3183753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setup()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// put your setup code here, to </a:t>
            </a:r>
            <a:r>
              <a:rPr lang="en-US" altLang="en-US" sz="24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run once</a:t>
            </a:r>
            <a:r>
              <a:rPr lang="en-US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loop()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// put your main code here, to </a:t>
            </a:r>
            <a:r>
              <a:rPr lang="en-US" altLang="en-US" sz="24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run repeatedly</a:t>
            </a:r>
            <a:r>
              <a:rPr lang="en-US" altLang="en-US" sz="240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sz="240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705600" y="914497"/>
            <a:ext cx="7696800" cy="1656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 marL="283685" indent="-283685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  <a:tabLst>
                <a:tab pos="283685" algn="l"/>
                <a:tab pos="698411" algn="l"/>
                <a:tab pos="1113137" algn="l"/>
                <a:tab pos="1527863" algn="l"/>
                <a:tab pos="1942589" algn="l"/>
                <a:tab pos="2357315" algn="l"/>
                <a:tab pos="2772041" algn="l"/>
                <a:tab pos="3186767" algn="l"/>
                <a:tab pos="3601494" algn="l"/>
                <a:tab pos="4016220" algn="l"/>
                <a:tab pos="4430946" algn="l"/>
                <a:tab pos="4845672" algn="l"/>
                <a:tab pos="5260398" algn="l"/>
                <a:tab pos="5675124" algn="l"/>
                <a:tab pos="6089850" algn="l"/>
                <a:tab pos="6504576" algn="l"/>
                <a:tab pos="6919303" algn="l"/>
                <a:tab pos="7334029" algn="l"/>
                <a:tab pos="7748755" algn="l"/>
                <a:tab pos="8163481" algn="l"/>
                <a:tab pos="8578207" algn="l"/>
              </a:tabLst>
              <a:defRPr/>
            </a:pPr>
            <a:r>
              <a:rPr lang="en-US" sz="2200">
                <a:solidFill>
                  <a:srgbClr val="000000"/>
                </a:solidFill>
                <a:cs typeface="Arial" charset="0"/>
              </a:rPr>
              <a:t>Software for Arduino boards is developed on Arduino IDE</a:t>
            </a:r>
          </a:p>
          <a:p>
            <a:pPr marL="283685" indent="-283685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  <a:tabLst>
                <a:tab pos="283685" algn="l"/>
                <a:tab pos="698411" algn="l"/>
                <a:tab pos="1113137" algn="l"/>
                <a:tab pos="1527863" algn="l"/>
                <a:tab pos="1942589" algn="l"/>
                <a:tab pos="2357315" algn="l"/>
                <a:tab pos="2772041" algn="l"/>
                <a:tab pos="3186767" algn="l"/>
                <a:tab pos="3601494" algn="l"/>
                <a:tab pos="4016220" algn="l"/>
                <a:tab pos="4430946" algn="l"/>
                <a:tab pos="4845672" algn="l"/>
                <a:tab pos="5260398" algn="l"/>
                <a:tab pos="5675124" algn="l"/>
                <a:tab pos="6089850" algn="l"/>
                <a:tab pos="6504576" algn="l"/>
                <a:tab pos="6919303" algn="l"/>
                <a:tab pos="7334029" algn="l"/>
                <a:tab pos="7748755" algn="l"/>
                <a:tab pos="8163481" algn="l"/>
                <a:tab pos="8578207" algn="l"/>
              </a:tabLst>
              <a:defRPr/>
            </a:pPr>
            <a:r>
              <a:rPr lang="en-US" sz="2200">
                <a:solidFill>
                  <a:srgbClr val="000000"/>
                </a:solidFill>
                <a:cs typeface="Arial" charset="0"/>
              </a:rPr>
              <a:t>Arduino source code is called ‘</a:t>
            </a:r>
            <a:r>
              <a:rPr lang="en-US" sz="2200" b="1">
                <a:solidFill>
                  <a:srgbClr val="000000"/>
                </a:solidFill>
                <a:cs typeface="Arial" charset="0"/>
              </a:rPr>
              <a:t>sketch</a:t>
            </a:r>
            <a:r>
              <a:rPr lang="en-US" sz="2200">
                <a:solidFill>
                  <a:srgbClr val="000000"/>
                </a:solidFill>
                <a:cs typeface="Arial" charset="0"/>
              </a:rPr>
              <a:t>’</a:t>
            </a:r>
          </a:p>
          <a:p>
            <a:pPr marL="283685" indent="-283685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  <a:tabLst>
                <a:tab pos="283685" algn="l"/>
                <a:tab pos="698411" algn="l"/>
                <a:tab pos="1113137" algn="l"/>
                <a:tab pos="1527863" algn="l"/>
                <a:tab pos="1942589" algn="l"/>
                <a:tab pos="2357315" algn="l"/>
                <a:tab pos="2772041" algn="l"/>
                <a:tab pos="3186767" algn="l"/>
                <a:tab pos="3601494" algn="l"/>
                <a:tab pos="4016220" algn="l"/>
                <a:tab pos="4430946" algn="l"/>
                <a:tab pos="4845672" algn="l"/>
                <a:tab pos="5260398" algn="l"/>
                <a:tab pos="5675124" algn="l"/>
                <a:tab pos="6089850" algn="l"/>
                <a:tab pos="6504576" algn="l"/>
                <a:tab pos="6919303" algn="l"/>
                <a:tab pos="7334029" algn="l"/>
                <a:tab pos="7748755" algn="l"/>
                <a:tab pos="8163481" algn="l"/>
                <a:tab pos="8578207" algn="l"/>
              </a:tabLst>
              <a:defRPr/>
            </a:pPr>
            <a:r>
              <a:rPr lang="en-US" sz="2200">
                <a:solidFill>
                  <a:srgbClr val="000000"/>
                </a:solidFill>
                <a:cs typeface="Arial" charset="0"/>
              </a:rPr>
              <a:t>Sketch utilizes C programming language syntax</a:t>
            </a:r>
          </a:p>
          <a:p>
            <a:pPr marL="283685" indent="-283685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Char char="•"/>
              <a:tabLst>
                <a:tab pos="283685" algn="l"/>
                <a:tab pos="698411" algn="l"/>
                <a:tab pos="1113137" algn="l"/>
                <a:tab pos="1527863" algn="l"/>
                <a:tab pos="1942589" algn="l"/>
                <a:tab pos="2357315" algn="l"/>
                <a:tab pos="2772041" algn="l"/>
                <a:tab pos="3186767" algn="l"/>
                <a:tab pos="3601494" algn="l"/>
                <a:tab pos="4016220" algn="l"/>
                <a:tab pos="4430946" algn="l"/>
                <a:tab pos="4845672" algn="l"/>
                <a:tab pos="5260398" algn="l"/>
                <a:tab pos="5675124" algn="l"/>
                <a:tab pos="6089850" algn="l"/>
                <a:tab pos="6504576" algn="l"/>
                <a:tab pos="6919303" algn="l"/>
                <a:tab pos="7334029" algn="l"/>
                <a:tab pos="7748755" algn="l"/>
                <a:tab pos="8163481" algn="l"/>
                <a:tab pos="8578207" algn="l"/>
              </a:tabLst>
              <a:defRPr/>
            </a:pPr>
            <a:r>
              <a:rPr lang="en-US" sz="2200">
                <a:solidFill>
                  <a:srgbClr val="000000"/>
                </a:solidFill>
                <a:cs typeface="Arial" charset="0"/>
              </a:rPr>
              <a:t>Initial structure of sketch:</a:t>
            </a:r>
          </a:p>
          <a:p>
            <a:pPr marL="285124" indent="-283685">
              <a:lnSpc>
                <a:spcPct val="93000"/>
              </a:lnSpc>
              <a:buSzPct val="100000"/>
              <a:tabLst>
                <a:tab pos="283685" algn="l"/>
                <a:tab pos="698411" algn="l"/>
                <a:tab pos="1113137" algn="l"/>
                <a:tab pos="1527863" algn="l"/>
                <a:tab pos="1942589" algn="l"/>
                <a:tab pos="2357315" algn="l"/>
                <a:tab pos="2772041" algn="l"/>
                <a:tab pos="3186767" algn="l"/>
                <a:tab pos="3601494" algn="l"/>
                <a:tab pos="4016220" algn="l"/>
                <a:tab pos="4430946" algn="l"/>
                <a:tab pos="4845672" algn="l"/>
                <a:tab pos="5260398" algn="l"/>
                <a:tab pos="5675124" algn="l"/>
                <a:tab pos="6089850" algn="l"/>
                <a:tab pos="6504576" algn="l"/>
                <a:tab pos="6919303" algn="l"/>
                <a:tab pos="7334029" algn="l"/>
                <a:tab pos="7748755" algn="l"/>
                <a:tab pos="8163481" algn="l"/>
                <a:tab pos="8578207" algn="l"/>
              </a:tabLst>
              <a:defRPr/>
            </a:pPr>
            <a:endParaRPr lang="en-US" sz="2200">
              <a:solidFill>
                <a:srgbClr val="00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268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/>
          <p:cNvSpPr txBox="1">
            <a:spLocks noChangeArrowheads="1"/>
          </p:cNvSpPr>
          <p:nvPr/>
        </p:nvSpPr>
        <p:spPr bwMode="auto">
          <a:xfrm>
            <a:off x="2306880" y="79209"/>
            <a:ext cx="453681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Arduino Programming</a:t>
            </a: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381601" y="1752664"/>
            <a:ext cx="8533440" cy="3441579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// the setup function runs once when you press reset or power the board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setup()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// initialize digital pin LED_BUILTIN as an output.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pinMode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LED_BUILTIN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// the loop function runs over and over again forever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void</a:t>
            </a: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loop()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digitalWrite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LED_BUILTIN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   // turn the LED on (HIGH is the voltage level)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delay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(1000);                       		// wait for a second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digitalWrite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LED_BUILTIN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en-US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);    // turn the LED off by making the voltage LOW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en-US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delay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(1000);                       		// wait for a second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21508" name="Text Box 3"/>
          <p:cNvSpPr txBox="1">
            <a:spLocks noChangeArrowheads="1"/>
          </p:cNvSpPr>
          <p:nvPr/>
        </p:nvSpPr>
        <p:spPr bwMode="auto">
          <a:xfrm>
            <a:off x="463681" y="1067153"/>
            <a:ext cx="1133636" cy="34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b="1">
                <a:solidFill>
                  <a:srgbClr val="FF0000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634483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/>
          <p:cNvSpPr txBox="1">
            <a:spLocks noChangeArrowheads="1"/>
          </p:cNvSpPr>
          <p:nvPr/>
        </p:nvSpPr>
        <p:spPr bwMode="auto">
          <a:xfrm>
            <a:off x="2833920" y="79209"/>
            <a:ext cx="303159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Digital I/O Port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226577" y="761841"/>
            <a:ext cx="8769103" cy="3412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cs typeface="Arial" charset="0"/>
              </a:rPr>
              <a:t>pinMode</a:t>
            </a:r>
            <a:r>
              <a:rPr lang="en-US" altLang="en-US" sz="3200" b="1" dirty="0">
                <a:solidFill>
                  <a:srgbClr val="000000"/>
                </a:solidFill>
                <a:cs typeface="Arial" charset="0"/>
              </a:rPr>
              <a:t>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sz="2000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Description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Configures the specified pin either as an input or an output.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Syntax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000" dirty="0" err="1">
                <a:solidFill>
                  <a:srgbClr val="000000"/>
                </a:solidFill>
                <a:cs typeface="Arial" charset="0"/>
              </a:rPr>
              <a:t>pinMode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pin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, 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mode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)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Parameters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pin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: the number of the pin whose mode you wish to set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mode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: INPUT, OUTPUT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Returns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None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445530" y="4154116"/>
            <a:ext cx="2996936" cy="2151381"/>
            <a:chOff x="3445530" y="4154116"/>
            <a:chExt cx="2996936" cy="21513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4F2C57-1CC8-7F94-F262-B559099A8A73}"/>
                </a:ext>
              </a:extLst>
            </p:cNvPr>
            <p:cNvSpPr/>
            <p:nvPr/>
          </p:nvSpPr>
          <p:spPr>
            <a:xfrm>
              <a:off x="4418251" y="4523448"/>
              <a:ext cx="1089065" cy="17820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488CA41-ABCE-44EA-FF7C-BF6103C68DEC}"/>
                </a:ext>
              </a:extLst>
            </p:cNvPr>
            <p:cNvSpPr txBox="1"/>
            <p:nvPr/>
          </p:nvSpPr>
          <p:spPr>
            <a:xfrm>
              <a:off x="4611128" y="4154116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sp>
          <p:nvSpPr>
            <p:cNvPr id="2" name="Right Arrow 1"/>
            <p:cNvSpPr/>
            <p:nvPr/>
          </p:nvSpPr>
          <p:spPr>
            <a:xfrm>
              <a:off x="5507316" y="4823791"/>
              <a:ext cx="784927" cy="31796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4782393" y="4850226"/>
              <a:ext cx="803425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0000"/>
                  </a:solidFill>
                  <a:cs typeface="Arial" charset="0"/>
                </a:rPr>
                <a:t>OUTPUT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564788" y="5720658"/>
              <a:ext cx="784927" cy="317968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380680" y="5733287"/>
              <a:ext cx="641522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0000"/>
                  </a:solidFill>
                  <a:cs typeface="Arial" charset="0"/>
                </a:rPr>
                <a:t>INPUT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17001" y="4536757"/>
              <a:ext cx="525465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B050"/>
                  </a:solidFill>
                  <a:cs typeface="Arial" charset="0"/>
                </a:rPr>
                <a:t>Data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45530" y="5502743"/>
              <a:ext cx="525465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B050"/>
                  </a:solidFill>
                  <a:cs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941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/>
          <p:cNvSpPr txBox="1">
            <a:spLocks noChangeArrowheads="1"/>
          </p:cNvSpPr>
          <p:nvPr/>
        </p:nvSpPr>
        <p:spPr bwMode="auto">
          <a:xfrm>
            <a:off x="2833920" y="79209"/>
            <a:ext cx="303159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Digital I/O Port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226577" y="761841"/>
            <a:ext cx="8769103" cy="266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3600" b="1" dirty="0">
                <a:solidFill>
                  <a:srgbClr val="000000"/>
                </a:solidFill>
                <a:cs typeface="Arial" charset="0"/>
              </a:rPr>
              <a:t>Example: </a:t>
            </a:r>
            <a:r>
              <a:rPr lang="en-US" altLang="en-US" sz="3600" b="1" dirty="0" err="1">
                <a:solidFill>
                  <a:srgbClr val="000000"/>
                </a:solidFill>
                <a:cs typeface="Arial" charset="0"/>
              </a:rPr>
              <a:t>pinMode</a:t>
            </a:r>
            <a:r>
              <a:rPr lang="en-US" altLang="en-US" sz="3600" b="1" dirty="0">
                <a:solidFill>
                  <a:srgbClr val="000000"/>
                </a:solidFill>
                <a:cs typeface="Arial" charset="0"/>
              </a:rPr>
              <a:t>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sz="2400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b="1" dirty="0">
                <a:solidFill>
                  <a:srgbClr val="000000"/>
                </a:solidFill>
                <a:cs typeface="Arial" charset="0"/>
              </a:rPr>
              <a:t>setup 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400" dirty="0" err="1">
                <a:solidFill>
                  <a:srgbClr val="000000"/>
                </a:solidFill>
                <a:cs typeface="Arial" charset="0"/>
              </a:rPr>
              <a:t>pinMode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(2, OUTPUT);		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// GPIO2 is output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400" dirty="0" err="1">
                <a:solidFill>
                  <a:srgbClr val="000000"/>
                </a:solidFill>
                <a:cs typeface="Arial" charset="0"/>
              </a:rPr>
              <a:t>SWPin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 = 17;					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// assign value 17 to variable </a:t>
            </a:r>
            <a:r>
              <a:rPr lang="en-US" alt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SWPin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400" dirty="0" err="1">
                <a:solidFill>
                  <a:srgbClr val="000000"/>
                </a:solidFill>
                <a:cs typeface="Arial" charset="0"/>
              </a:rPr>
              <a:t>pinMode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(</a:t>
            </a:r>
            <a:r>
              <a:rPr lang="en-US" altLang="en-US" sz="2400" dirty="0" err="1">
                <a:solidFill>
                  <a:srgbClr val="000000"/>
                </a:solidFill>
                <a:cs typeface="Arial" charset="0"/>
              </a:rPr>
              <a:t>SWPin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, INPUT); 	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// now GPIO 17 is input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b="1" dirty="0">
                <a:solidFill>
                  <a:srgbClr val="000000"/>
                </a:solidFill>
                <a:cs typeface="Arial" charset="0"/>
              </a:rPr>
              <a:t>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868575" y="3838526"/>
            <a:ext cx="2996936" cy="2151381"/>
            <a:chOff x="3445530" y="4154116"/>
            <a:chExt cx="2996936" cy="21513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4F2C57-1CC8-7F94-F262-B559099A8A73}"/>
                </a:ext>
              </a:extLst>
            </p:cNvPr>
            <p:cNvSpPr/>
            <p:nvPr/>
          </p:nvSpPr>
          <p:spPr>
            <a:xfrm>
              <a:off x="4418251" y="4523448"/>
              <a:ext cx="1089065" cy="178204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88CA41-ABCE-44EA-FF7C-BF6103C68DEC}"/>
                </a:ext>
              </a:extLst>
            </p:cNvPr>
            <p:cNvSpPr txBox="1"/>
            <p:nvPr/>
          </p:nvSpPr>
          <p:spPr>
            <a:xfrm>
              <a:off x="4611128" y="4154116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5507316" y="4823791"/>
              <a:ext cx="784927" cy="31796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922271" y="4842446"/>
              <a:ext cx="646331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0000"/>
                  </a:solidFill>
                  <a:cs typeface="Arial" charset="0"/>
                </a:rPr>
                <a:t>GPIO2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3564788" y="5720658"/>
              <a:ext cx="784927" cy="317968"/>
            </a:xfrm>
            <a:prstGeom prst="right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80680" y="5733287"/>
              <a:ext cx="737702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0000"/>
                  </a:solidFill>
                  <a:cs typeface="Arial" charset="0"/>
                </a:rPr>
                <a:t>GPIO17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17001" y="4536757"/>
              <a:ext cx="525465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B050"/>
                  </a:solidFill>
                  <a:cs typeface="Arial" charset="0"/>
                </a:rPr>
                <a:t>Data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445530" y="5502743"/>
              <a:ext cx="525465" cy="2927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400" dirty="0">
                  <a:solidFill>
                    <a:srgbClr val="00B050"/>
                  </a:solidFill>
                  <a:cs typeface="Arial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93622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"/>
          <p:cNvSpPr txBox="1">
            <a:spLocks noChangeArrowheads="1"/>
          </p:cNvSpPr>
          <p:nvPr/>
        </p:nvSpPr>
        <p:spPr bwMode="auto">
          <a:xfrm>
            <a:off x="2833920" y="79209"/>
            <a:ext cx="303159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Digital I/O Port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451440" y="830076"/>
            <a:ext cx="8241120" cy="369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3200" b="1" dirty="0" err="1">
                <a:solidFill>
                  <a:srgbClr val="000000"/>
                </a:solidFill>
                <a:cs typeface="Arial" charset="0"/>
              </a:rPr>
              <a:t>digitalWrite</a:t>
            </a:r>
            <a:r>
              <a:rPr lang="en-US" altLang="en-US" sz="3200" b="1" dirty="0">
                <a:solidFill>
                  <a:srgbClr val="000000"/>
                </a:solidFill>
                <a:cs typeface="Arial" charset="0"/>
              </a:rPr>
              <a:t>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sz="2000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Description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Write a HIGH or a LOW value to a digital pin. If the pin has been configured as an OUTPUT with </a:t>
            </a:r>
            <a:r>
              <a:rPr lang="en-US" altLang="en-US" sz="2000" dirty="0" err="1">
                <a:solidFill>
                  <a:srgbClr val="000000"/>
                </a:solidFill>
                <a:cs typeface="Arial" charset="0"/>
              </a:rPr>
              <a:t>pinMode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Syntax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000" dirty="0" err="1">
                <a:solidFill>
                  <a:srgbClr val="000000"/>
                </a:solidFill>
                <a:cs typeface="Arial" charset="0"/>
              </a:rPr>
              <a:t>digitalWrite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(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pin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, 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value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)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Parameters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pin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: the pin number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000" i="1" dirty="0">
                <a:solidFill>
                  <a:srgbClr val="000000"/>
                </a:solidFill>
                <a:cs typeface="Arial" charset="0"/>
              </a:rPr>
              <a:t>value</a:t>
            </a: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: HIGH or LOW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b="1" dirty="0">
                <a:solidFill>
                  <a:srgbClr val="000000"/>
                </a:solidFill>
                <a:cs typeface="Arial" charset="0"/>
              </a:rPr>
              <a:t>Returns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000" dirty="0">
                <a:solidFill>
                  <a:srgbClr val="000000"/>
                </a:solidFill>
                <a:cs typeface="Arial" charset="0"/>
              </a:rPr>
              <a:t>		none 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5682285" y="2498354"/>
            <a:ext cx="2873048" cy="2151381"/>
            <a:chOff x="5544721" y="3453214"/>
            <a:chExt cx="2873048" cy="2151381"/>
          </a:xfrm>
        </p:grpSpPr>
        <p:grpSp>
          <p:nvGrpSpPr>
            <p:cNvPr id="4" name="Group 3"/>
            <p:cNvGrpSpPr/>
            <p:nvPr/>
          </p:nvGrpSpPr>
          <p:grpSpPr>
            <a:xfrm>
              <a:off x="5544721" y="3453214"/>
              <a:ext cx="2442118" cy="2151381"/>
              <a:chOff x="4418251" y="4154116"/>
              <a:chExt cx="2442118" cy="215138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4F2C57-1CC8-7F94-F262-B559099A8A73}"/>
                  </a:ext>
                </a:extLst>
              </p:cNvPr>
              <p:cNvSpPr/>
              <p:nvPr/>
            </p:nvSpPr>
            <p:spPr>
              <a:xfrm>
                <a:off x="4418251" y="4523448"/>
                <a:ext cx="1089065" cy="178204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88CA41-ABCE-44EA-FF7C-BF6103C68DEC}"/>
                  </a:ext>
                </a:extLst>
              </p:cNvPr>
              <p:cNvSpPr txBox="1"/>
              <p:nvPr/>
            </p:nvSpPr>
            <p:spPr>
              <a:xfrm>
                <a:off x="4611128" y="4154116"/>
                <a:ext cx="8226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ESP32</a:t>
                </a:r>
              </a:p>
            </p:txBody>
          </p:sp>
          <p:sp>
            <p:nvSpPr>
              <p:cNvPr id="7" name="Right Arrow 6"/>
              <p:cNvSpPr/>
              <p:nvPr/>
            </p:nvSpPr>
            <p:spPr>
              <a:xfrm>
                <a:off x="5507316" y="4823791"/>
                <a:ext cx="784927" cy="3179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782393" y="4850226"/>
                <a:ext cx="803425" cy="292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000000"/>
                    </a:solidFill>
                    <a:cs typeface="Arial" charset="0"/>
                  </a:rPr>
                  <a:t>OUTPUT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917001" y="4536757"/>
                <a:ext cx="943368" cy="2927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00B050"/>
                    </a:solidFill>
                    <a:cs typeface="Arial" charset="0"/>
                  </a:rPr>
                  <a:t>Data = </a:t>
                </a:r>
              </a:p>
            </p:txBody>
          </p:sp>
        </p:grpSp>
        <p:sp>
          <p:nvSpPr>
            <p:cNvPr id="2" name="Left Brace 1"/>
            <p:cNvSpPr/>
            <p:nvPr/>
          </p:nvSpPr>
          <p:spPr>
            <a:xfrm>
              <a:off x="7701624" y="3731752"/>
              <a:ext cx="331773" cy="500913"/>
            </a:xfrm>
            <a:prstGeom prst="leftBrac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041489" y="3592582"/>
              <a:ext cx="376280" cy="7792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600" b="1" dirty="0">
                  <a:solidFill>
                    <a:srgbClr val="00B050"/>
                  </a:solidFill>
                  <a:cs typeface="Arial" charset="0"/>
                </a:rPr>
                <a:t>1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endParaRPr lang="en-US" altLang="en-US" sz="1600" b="1" dirty="0">
                <a:solidFill>
                  <a:srgbClr val="00B050"/>
                </a:solidFill>
                <a:cs typeface="Arial" charset="0"/>
              </a:endParaRP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600" b="1" dirty="0">
                  <a:solidFill>
                    <a:srgbClr val="00B050"/>
                  </a:solidFill>
                  <a:cs typeface="Arial" charset="0"/>
                </a:rPr>
                <a:t>0 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372626" y="4400397"/>
            <a:ext cx="3288429" cy="2239440"/>
            <a:chOff x="451440" y="4440857"/>
            <a:chExt cx="3288429" cy="2239440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451440" y="4440857"/>
              <a:ext cx="0" cy="19194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451440" y="6360340"/>
              <a:ext cx="3288429" cy="134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451440" y="5251731"/>
              <a:ext cx="1191243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408364" y="5251731"/>
              <a:ext cx="496677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1642683" y="5251731"/>
              <a:ext cx="0" cy="11086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642683" y="6358991"/>
              <a:ext cx="765681" cy="134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2408364" y="5251731"/>
              <a:ext cx="0" cy="11086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2905041" y="5251731"/>
              <a:ext cx="0" cy="11086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877003" y="5239945"/>
              <a:ext cx="376280" cy="3213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600" b="1" dirty="0">
                  <a:solidFill>
                    <a:srgbClr val="00B050"/>
                  </a:solidFill>
                  <a:cs typeface="Arial" charset="0"/>
                </a:rPr>
                <a:t>1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922951" y="6358991"/>
              <a:ext cx="376280" cy="3213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US" altLang="en-US" sz="1600" b="1" dirty="0">
                  <a:solidFill>
                    <a:srgbClr val="00B050"/>
                  </a:solidFill>
                  <a:cs typeface="Arial" charset="0"/>
                </a:rPr>
                <a:t>0 </a:t>
              </a:r>
            </a:p>
          </p:txBody>
        </p:sp>
      </p:grpSp>
      <p:sp>
        <p:nvSpPr>
          <p:cNvPr id="36" name="Rectangle 35"/>
          <p:cNvSpPr/>
          <p:nvPr/>
        </p:nvSpPr>
        <p:spPr>
          <a:xfrm>
            <a:off x="4425928" y="5167341"/>
            <a:ext cx="376280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rgbClr val="00B050"/>
                </a:solidFill>
                <a:cs typeface="Arial" charset="0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43609" y="6318531"/>
            <a:ext cx="376280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rgbClr val="00B050"/>
                </a:solidFill>
                <a:cs typeface="Arial" charset="0"/>
              </a:rPr>
              <a:t>0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49093" y="5050618"/>
            <a:ext cx="894529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rgbClr val="FF0000"/>
                </a:solidFill>
                <a:cs typeface="Arial" charset="0"/>
              </a:rPr>
              <a:t>3.3V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6140" y="4287925"/>
            <a:ext cx="632107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chemeClr val="accent1">
                    <a:lumMod val="50000"/>
                  </a:schemeClr>
                </a:solidFill>
                <a:cs typeface="Arial" charset="0"/>
              </a:rPr>
              <a:t>Volt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59108" y="6318531"/>
            <a:ext cx="744588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chemeClr val="accent1">
                    <a:lumMod val="50000"/>
                  </a:schemeClr>
                </a:solidFill>
                <a:cs typeface="Arial" charset="0"/>
              </a:rPr>
              <a:t>Time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70275" y="4884072"/>
            <a:ext cx="632107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rgbClr val="FF0000"/>
                </a:solidFill>
                <a:cs typeface="Arial" charset="0"/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11402" y="6042505"/>
            <a:ext cx="632107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rgbClr val="FF0000"/>
                </a:solidFill>
                <a:cs typeface="Arial" charset="0"/>
              </a:rPr>
              <a:t>Low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8014" y="4872913"/>
            <a:ext cx="632107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rgbClr val="FF0000"/>
                </a:solidFill>
                <a:cs typeface="Arial" charset="0"/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5433" y="6042505"/>
            <a:ext cx="632107" cy="321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600" b="1" dirty="0">
                <a:solidFill>
                  <a:srgbClr val="FF0000"/>
                </a:solidFill>
                <a:cs typeface="Arial" charset="0"/>
              </a:rPr>
              <a:t>Low </a:t>
            </a:r>
          </a:p>
        </p:txBody>
      </p:sp>
    </p:spTree>
    <p:extLst>
      <p:ext uri="{BB962C8B-B14F-4D97-AF65-F5344CB8AC3E}">
        <p14:creationId xmlns:p14="http://schemas.microsoft.com/office/powerpoint/2010/main" val="1107674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/>
          <p:cNvSpPr txBox="1">
            <a:spLocks noChangeArrowheads="1"/>
          </p:cNvSpPr>
          <p:nvPr/>
        </p:nvSpPr>
        <p:spPr bwMode="auto">
          <a:xfrm>
            <a:off x="2833920" y="79209"/>
            <a:ext cx="303159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Digital I/O Port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226577" y="761841"/>
            <a:ext cx="8769103" cy="3011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3600" b="1" dirty="0">
                <a:solidFill>
                  <a:srgbClr val="000000"/>
                </a:solidFill>
                <a:cs typeface="Arial" charset="0"/>
              </a:rPr>
              <a:t>Example: </a:t>
            </a:r>
            <a:r>
              <a:rPr lang="en-US" altLang="en-US" sz="3600" b="1" dirty="0" err="1">
                <a:solidFill>
                  <a:srgbClr val="000000"/>
                </a:solidFill>
                <a:cs typeface="Arial" charset="0"/>
              </a:rPr>
              <a:t>digitalWrite</a:t>
            </a:r>
            <a:r>
              <a:rPr lang="en-US" altLang="en-US" sz="3600" b="1" dirty="0">
                <a:solidFill>
                  <a:srgbClr val="000000"/>
                </a:solidFill>
                <a:cs typeface="Arial" charset="0"/>
              </a:rPr>
              <a:t>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sz="2400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b="1" dirty="0">
                <a:solidFill>
                  <a:srgbClr val="000000"/>
                </a:solidFill>
                <a:cs typeface="Arial" charset="0"/>
              </a:rPr>
              <a:t>setup 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400" dirty="0" err="1">
                <a:solidFill>
                  <a:srgbClr val="000000"/>
                </a:solidFill>
                <a:cs typeface="Arial" charset="0"/>
              </a:rPr>
              <a:t>pinMode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(2, OUTPUT);		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// GPIO2 is output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						</a:t>
            </a:r>
            <a:endParaRPr lang="en-US" altLang="en-US" sz="2400" dirty="0">
              <a:solidFill>
                <a:schemeClr val="tx1">
                  <a:lumMod val="50000"/>
                  <a:lumOff val="50000"/>
                </a:schemeClr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400" dirty="0" err="1">
                <a:solidFill>
                  <a:srgbClr val="000000"/>
                </a:solidFill>
                <a:cs typeface="Arial" charset="0"/>
              </a:rPr>
              <a:t>digitalWrite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(2, </a:t>
            </a:r>
            <a:r>
              <a:rPr lang="en-US" altLang="en-US" sz="2400" b="1" dirty="0">
                <a:solidFill>
                  <a:srgbClr val="000000"/>
                </a:solidFill>
                <a:cs typeface="Arial" charset="0"/>
              </a:rPr>
              <a:t>HIGH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); 		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// Supply 3.3 Volt to GPIO2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	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 	delay(1000);					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// Suspend for 1000 </a:t>
            </a:r>
            <a:r>
              <a:rPr lang="en-US" altLang="en-US" sz="2400" dirty="0" err="1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milisecond</a:t>
            </a:r>
            <a:endParaRPr lang="en-US" altLang="en-US" sz="2400" dirty="0">
              <a:solidFill>
                <a:schemeClr val="tx1">
                  <a:lumMod val="50000"/>
                  <a:lumOff val="50000"/>
                </a:schemeClr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sz="2400" dirty="0" err="1">
                <a:solidFill>
                  <a:srgbClr val="000000"/>
                </a:solidFill>
                <a:cs typeface="Arial" charset="0"/>
              </a:rPr>
              <a:t>digitalWrite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(2, </a:t>
            </a:r>
            <a:r>
              <a:rPr lang="en-US" altLang="en-US" sz="2400" b="1" dirty="0">
                <a:solidFill>
                  <a:srgbClr val="000000"/>
                </a:solidFill>
                <a:cs typeface="Arial" charset="0"/>
              </a:rPr>
              <a:t>LOW</a:t>
            </a:r>
            <a:r>
              <a:rPr lang="en-US" altLang="en-US" sz="2400" dirty="0">
                <a:solidFill>
                  <a:srgbClr val="000000"/>
                </a:solidFill>
                <a:cs typeface="Arial" charset="0"/>
              </a:rPr>
              <a:t>);		</a:t>
            </a:r>
            <a:r>
              <a:rPr lang="en-US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// Supply 0 Volt to GPIO2</a:t>
            </a:r>
            <a:endParaRPr lang="en-US" altLang="en-US" sz="2400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400" b="1" dirty="0">
                <a:solidFill>
                  <a:srgbClr val="000000"/>
                </a:solidFill>
                <a:cs typeface="Arial" charset="0"/>
              </a:rPr>
              <a:t>}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69693" y="4024659"/>
            <a:ext cx="3002124" cy="2283738"/>
            <a:chOff x="1262826" y="3773815"/>
            <a:chExt cx="3002124" cy="2283738"/>
          </a:xfrm>
        </p:grpSpPr>
        <p:grpSp>
          <p:nvGrpSpPr>
            <p:cNvPr id="4" name="Group 3"/>
            <p:cNvGrpSpPr/>
            <p:nvPr/>
          </p:nvGrpSpPr>
          <p:grpSpPr>
            <a:xfrm>
              <a:off x="1262826" y="3906172"/>
              <a:ext cx="1959025" cy="2151381"/>
              <a:chOff x="4380680" y="4154116"/>
              <a:chExt cx="1959025" cy="2151381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64F2C57-1CC8-7F94-F262-B559099A8A73}"/>
                  </a:ext>
                </a:extLst>
              </p:cNvPr>
              <p:cNvSpPr/>
              <p:nvPr/>
            </p:nvSpPr>
            <p:spPr>
              <a:xfrm>
                <a:off x="4418251" y="4523448"/>
                <a:ext cx="1089065" cy="178204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488CA41-ABCE-44EA-FF7C-BF6103C68DEC}"/>
                  </a:ext>
                </a:extLst>
              </p:cNvPr>
              <p:cNvSpPr txBox="1"/>
              <p:nvPr/>
            </p:nvSpPr>
            <p:spPr>
              <a:xfrm>
                <a:off x="4611128" y="4154116"/>
                <a:ext cx="8226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ESP32</a:t>
                </a:r>
              </a:p>
            </p:txBody>
          </p:sp>
          <p:sp>
            <p:nvSpPr>
              <p:cNvPr id="7" name="Right Arrow 6"/>
              <p:cNvSpPr/>
              <p:nvPr/>
            </p:nvSpPr>
            <p:spPr>
              <a:xfrm>
                <a:off x="5507316" y="4823791"/>
                <a:ext cx="784927" cy="3179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922271" y="4842446"/>
                <a:ext cx="646331" cy="292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000000"/>
                    </a:solidFill>
                    <a:cs typeface="Arial" charset="0"/>
                  </a:rPr>
                  <a:t>GPIO2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380680" y="5733287"/>
                <a:ext cx="737702" cy="292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000000"/>
                    </a:solidFill>
                    <a:cs typeface="Arial" charset="0"/>
                  </a:rPr>
                  <a:t>GPIO17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552951" y="4512755"/>
                <a:ext cx="786754" cy="292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FF0000"/>
                    </a:solidFill>
                    <a:cs typeface="Arial" charset="0"/>
                  </a:rPr>
                  <a:t>Data = 0</a:t>
                </a:r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3"/>
            <a:srcRect l="52917" b="14175"/>
            <a:stretch/>
          </p:blipFill>
          <p:spPr>
            <a:xfrm>
              <a:off x="3220024" y="3773815"/>
              <a:ext cx="1044926" cy="1765775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5493611" y="4097496"/>
            <a:ext cx="3234973" cy="2283738"/>
            <a:chOff x="4991905" y="3773815"/>
            <a:chExt cx="3234973" cy="2283738"/>
          </a:xfrm>
        </p:grpSpPr>
        <p:grpSp>
          <p:nvGrpSpPr>
            <p:cNvPr id="13" name="Group 12"/>
            <p:cNvGrpSpPr/>
            <p:nvPr/>
          </p:nvGrpSpPr>
          <p:grpSpPr>
            <a:xfrm>
              <a:off x="4991905" y="3906172"/>
              <a:ext cx="1991879" cy="2151381"/>
              <a:chOff x="4380680" y="4154116"/>
              <a:chExt cx="1991879" cy="2151381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64F2C57-1CC8-7F94-F262-B559099A8A73}"/>
                  </a:ext>
                </a:extLst>
              </p:cNvPr>
              <p:cNvSpPr/>
              <p:nvPr/>
            </p:nvSpPr>
            <p:spPr>
              <a:xfrm>
                <a:off x="4418251" y="4523448"/>
                <a:ext cx="1089065" cy="178204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88CA41-ABCE-44EA-FF7C-BF6103C68DEC}"/>
                  </a:ext>
                </a:extLst>
              </p:cNvPr>
              <p:cNvSpPr txBox="1"/>
              <p:nvPr/>
            </p:nvSpPr>
            <p:spPr>
              <a:xfrm>
                <a:off x="4611128" y="4154116"/>
                <a:ext cx="8226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ESP32</a:t>
                </a:r>
              </a:p>
            </p:txBody>
          </p:sp>
          <p:sp>
            <p:nvSpPr>
              <p:cNvPr id="16" name="Right Arrow 15"/>
              <p:cNvSpPr/>
              <p:nvPr/>
            </p:nvSpPr>
            <p:spPr>
              <a:xfrm>
                <a:off x="5507316" y="4823791"/>
                <a:ext cx="784927" cy="3179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22271" y="4842446"/>
                <a:ext cx="646331" cy="292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000000"/>
                    </a:solidFill>
                    <a:cs typeface="Arial" charset="0"/>
                  </a:rPr>
                  <a:t>GPIO2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380680" y="5733287"/>
                <a:ext cx="737702" cy="2927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000000"/>
                    </a:solidFill>
                    <a:cs typeface="Arial" charset="0"/>
                  </a:rPr>
                  <a:t>GPIO17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544887" y="4512754"/>
                <a:ext cx="827672" cy="2927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US" altLang="en-US" sz="1400" dirty="0">
                    <a:solidFill>
                      <a:srgbClr val="FF0000"/>
                    </a:solidFill>
                    <a:cs typeface="Arial" charset="0"/>
                  </a:rPr>
                  <a:t>Data = 1</a:t>
                </a: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/>
          </p:nvPicPr>
          <p:blipFill rotWithShape="1">
            <a:blip r:embed="rId3"/>
            <a:srcRect r="44827" b="14175"/>
            <a:stretch/>
          </p:blipFill>
          <p:spPr>
            <a:xfrm>
              <a:off x="7002417" y="3773815"/>
              <a:ext cx="1224461" cy="1765775"/>
            </a:xfrm>
            <a:prstGeom prst="rect">
              <a:avLst/>
            </a:prstGeom>
          </p:spPr>
        </p:pic>
      </p:grpSp>
      <p:sp>
        <p:nvSpPr>
          <p:cNvPr id="26" name="Rectangle 25"/>
          <p:cNvSpPr/>
          <p:nvPr/>
        </p:nvSpPr>
        <p:spPr>
          <a:xfrm>
            <a:off x="6657818" y="5235824"/>
            <a:ext cx="1103883" cy="292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400" dirty="0">
                <a:solidFill>
                  <a:srgbClr val="FF0000"/>
                </a:solidFill>
                <a:cs typeface="Arial" charset="0"/>
              </a:rPr>
              <a:t>Data = 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33900" y="5170948"/>
            <a:ext cx="1043747" cy="2927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1400" dirty="0">
                <a:solidFill>
                  <a:srgbClr val="FF0000"/>
                </a:solidFill>
                <a:cs typeface="Arial" charset="0"/>
              </a:rPr>
              <a:t>Data = LOW</a:t>
            </a:r>
          </a:p>
        </p:txBody>
      </p:sp>
    </p:spTree>
    <p:extLst>
      <p:ext uri="{BB962C8B-B14F-4D97-AF65-F5344CB8AC3E}">
        <p14:creationId xmlns:p14="http://schemas.microsoft.com/office/powerpoint/2010/main" val="19545538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2833920" y="79209"/>
            <a:ext cx="303159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Digital I/O Port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685441" y="838169"/>
            <a:ext cx="8241120" cy="3069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800" b="1">
                <a:solidFill>
                  <a:srgbClr val="000000"/>
                </a:solidFill>
                <a:cs typeface="Arial" charset="0"/>
              </a:rPr>
              <a:t>digitalRead()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Description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Reads the value from a specified digital pin, 	either HIGH or LOW.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Syntax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digitalRead(</a:t>
            </a:r>
            <a:r>
              <a:rPr lang="en-US" altLang="en-US" i="1">
                <a:solidFill>
                  <a:srgbClr val="000000"/>
                </a:solidFill>
                <a:cs typeface="Arial" charset="0"/>
              </a:rPr>
              <a:t>pin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)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Parameters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</a:t>
            </a:r>
            <a:r>
              <a:rPr lang="en-US" altLang="en-US" i="1">
                <a:solidFill>
                  <a:srgbClr val="000000"/>
                </a:solidFill>
                <a:cs typeface="Arial" charset="0"/>
              </a:rPr>
              <a:t>pin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: the pin number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Returns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HIGH or LOW.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88589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"/>
          <p:cNvSpPr txBox="1">
            <a:spLocks noChangeArrowheads="1"/>
          </p:cNvSpPr>
          <p:nvPr/>
        </p:nvSpPr>
        <p:spPr bwMode="auto">
          <a:xfrm>
            <a:off x="2833920" y="79209"/>
            <a:ext cx="3031591" cy="55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Digital I/O Port</a:t>
            </a: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1116001" y="2046456"/>
            <a:ext cx="6886080" cy="3966176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 ledPin = 13;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	// LED connected to digital pin 13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 inPin = 7;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	// pushbutton connected to digital pin 7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 val = 0;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  	// variable to store the read value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void setup()</a:t>
            </a:r>
            <a:b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pinMode(ledPin, OUTPUT);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   	// sets the digital pin 13 as output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pinMode(inPin, INPUT);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   	// sets the digital pin 7 as input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b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void loop()</a:t>
            </a:r>
            <a:b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 = digitalRead(inPin); 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	// read the input pin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  </a:t>
            </a: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digitalWrite(ledPin, val);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   	// sets the LED to the button's value</a:t>
            </a:r>
            <a:br>
              <a:rPr lang="en-US" altLang="en-US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en-US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381601" y="940420"/>
            <a:ext cx="8717760" cy="601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9" tIns="42452" rIns="81639" bIns="42452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  <a:tab pos="8709249" algn="l"/>
              </a:tabLst>
            </a:pPr>
            <a:r>
              <a:rPr lang="en-US" altLang="en-US" b="1">
                <a:solidFill>
                  <a:srgbClr val="FF0000"/>
                </a:solidFill>
                <a:cs typeface="Arial" charset="0"/>
              </a:rPr>
              <a:t>Example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  <a:tab pos="8709249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Read status of input pin 7 and display on pin 13.</a:t>
            </a:r>
          </a:p>
        </p:txBody>
      </p:sp>
    </p:spTree>
    <p:extLst>
      <p:ext uri="{BB962C8B-B14F-4D97-AF65-F5344CB8AC3E}">
        <p14:creationId xmlns:p14="http://schemas.microsoft.com/office/powerpoint/2010/main" val="41511370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"/>
          <p:cNvSpPr txBox="1">
            <a:spLocks noChangeArrowheads="1"/>
          </p:cNvSpPr>
          <p:nvPr/>
        </p:nvSpPr>
        <p:spPr bwMode="auto">
          <a:xfrm>
            <a:off x="2314081" y="76329"/>
            <a:ext cx="4983840" cy="547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Programming Structures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640746" y="428354"/>
            <a:ext cx="8241120" cy="6418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800" b="1" dirty="0">
                <a:solidFill>
                  <a:srgbClr val="000000"/>
                </a:solidFill>
                <a:cs typeface="Arial" charset="0"/>
              </a:rPr>
              <a:t>for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Description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The for statement is used to repeat a block of statements enclosed in curly braces. An increment counter is usually used to increment and terminate the loop. The for statement is useful for any repetitive operation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Syntax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		</a:t>
            </a: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for (initialization; condition; increment)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  					// statement(s);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					}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Example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	int count = 0;  // initialize variable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void setup()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 		</a:t>
            </a:r>
            <a:r>
              <a:rPr lang="en-US" altLang="en-US" dirty="0" err="1">
                <a:solidFill>
                  <a:srgbClr val="000000"/>
                </a:solidFill>
                <a:cs typeface="Arial" charset="0"/>
              </a:rPr>
              <a:t>Serial.begin</a:t>
            </a: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(9600);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}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void loop()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 		for (</a:t>
            </a:r>
            <a:r>
              <a:rPr lang="en-US" altLang="en-US" dirty="0" err="1">
                <a:solidFill>
                  <a:srgbClr val="000000"/>
                </a:solidFill>
                <a:cs typeface="Arial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</a:t>
            </a:r>
            <a:r>
              <a:rPr lang="en-US" altLang="en-US" dirty="0" err="1">
                <a:solidFill>
                  <a:srgbClr val="000000"/>
                </a:solidFill>
                <a:cs typeface="Arial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= 0; </a:t>
            </a:r>
            <a:r>
              <a:rPr lang="en-US" altLang="en-US" dirty="0" err="1">
                <a:solidFill>
                  <a:srgbClr val="000000"/>
                </a:solidFill>
                <a:cs typeface="Arial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&lt;= 255; </a:t>
            </a:r>
            <a:r>
              <a:rPr lang="en-US" altLang="en-US" dirty="0" err="1">
                <a:solidFill>
                  <a:srgbClr val="000000"/>
                </a:solidFill>
                <a:cs typeface="Arial" charset="0"/>
              </a:rPr>
              <a:t>i</a:t>
            </a: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++)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   			count = Count+2;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	</a:t>
            </a:r>
            <a:r>
              <a:rPr lang="en-US" altLang="en-US" dirty="0" err="1">
                <a:solidFill>
                  <a:srgbClr val="000000"/>
                </a:solidFill>
                <a:cs typeface="Arial" charset="0"/>
              </a:rPr>
              <a:t>Serial.println</a:t>
            </a: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(Count);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}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7976690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"/>
          <p:cNvSpPr txBox="1">
            <a:spLocks noChangeArrowheads="1"/>
          </p:cNvSpPr>
          <p:nvPr/>
        </p:nvSpPr>
        <p:spPr bwMode="auto">
          <a:xfrm>
            <a:off x="2314081" y="8731"/>
            <a:ext cx="4983840" cy="547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 dirty="0">
                <a:solidFill>
                  <a:srgbClr val="000000"/>
                </a:solidFill>
                <a:cs typeface="Arial" charset="0"/>
              </a:rPr>
              <a:t>Programming Structures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609600" y="381000"/>
            <a:ext cx="8241120" cy="6161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800" b="1" dirty="0">
                <a:solidFill>
                  <a:srgbClr val="000000"/>
                </a:solidFill>
                <a:cs typeface="Arial" charset="0"/>
              </a:rPr>
              <a:t>if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Description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The if statement checks for a condition and executes the proceeding statement or set of statements if the condition is 'true'.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Syntax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		</a:t>
            </a: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if (condition)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  					// statement(s);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					}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Example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int a, b, c;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int b, c;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		if (a &gt; 0)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 			c = a + b;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} else if (a == 0)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	c = b;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} else {		//a must be less than zero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	c = a);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}</a:t>
            </a:r>
          </a:p>
        </p:txBody>
      </p:sp>
      <p:sp>
        <p:nvSpPr>
          <p:cNvPr id="35844" name="TextBox 1"/>
          <p:cNvSpPr txBox="1">
            <a:spLocks noChangeArrowheads="1"/>
          </p:cNvSpPr>
          <p:nvPr/>
        </p:nvSpPr>
        <p:spPr bwMode="auto">
          <a:xfrm>
            <a:off x="5388128" y="2286087"/>
            <a:ext cx="2972160" cy="2402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if (condition1) 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       // do statement group A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}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else if (condition2) 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      // do statement group B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}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else 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      // do statement group C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 dirty="0">
                <a:solidFill>
                  <a:srgbClr val="C0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3359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"/>
          <p:cNvSpPr txBox="1">
            <a:spLocks noChangeArrowheads="1"/>
          </p:cNvSpPr>
          <p:nvPr/>
        </p:nvSpPr>
        <p:spPr bwMode="auto">
          <a:xfrm>
            <a:off x="2314081" y="76329"/>
            <a:ext cx="4983840" cy="547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Programming Structures</a:t>
            </a: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632160" y="838168"/>
            <a:ext cx="8241120" cy="4872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800" b="1" dirty="0">
                <a:solidFill>
                  <a:srgbClr val="000000"/>
                </a:solidFill>
                <a:cs typeface="Arial" charset="0"/>
              </a:rPr>
              <a:t>while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Description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A while loop will loop continuously, and infinitely, until the expression inside the parenthesis, () becomes false.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Syntax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		</a:t>
            </a: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while (condition)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  					// statement(s);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chemeClr val="accent2"/>
                </a:solidFill>
                <a:cs typeface="Arial" charset="0"/>
              </a:rPr>
              <a:t>					}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Example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	var = 0;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while (var &lt; 200)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 		// do something repetitive 200 times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  		var++;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	</a:t>
            </a:r>
            <a:r>
              <a:rPr lang="en-US" altLang="en-US" dirty="0" err="1">
                <a:solidFill>
                  <a:srgbClr val="000000"/>
                </a:solidFill>
                <a:cs typeface="Arial" charset="0"/>
              </a:rPr>
              <a:t>Serial.println</a:t>
            </a: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(var);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dirty="0">
                <a:solidFill>
                  <a:srgbClr val="000000"/>
                </a:solidFill>
                <a:cs typeface="Arial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23659852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1"/>
          <p:cNvSpPr txBox="1">
            <a:spLocks noChangeArrowheads="1"/>
          </p:cNvSpPr>
          <p:nvPr/>
        </p:nvSpPr>
        <p:spPr bwMode="auto">
          <a:xfrm>
            <a:off x="3051360" y="46085"/>
            <a:ext cx="2244960" cy="547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Data types</a:t>
            </a: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632160" y="838168"/>
            <a:ext cx="8241120" cy="3441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 err="1">
                <a:solidFill>
                  <a:srgbClr val="000000"/>
                </a:solidFill>
                <a:cs typeface="Arial" charset="0"/>
              </a:rPr>
              <a:t>boolean</a:t>
            </a: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					‘true’, ‘false’	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char						8-bit value from -128 to 127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unsigned char			8-bit value from 0 to 255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byte					same as </a:t>
            </a:r>
            <a:r>
              <a:rPr lang="en-US" altLang="en-US" b="1" i="1" dirty="0">
                <a:solidFill>
                  <a:srgbClr val="000000"/>
                </a:solidFill>
                <a:cs typeface="Arial" charset="0"/>
              </a:rPr>
              <a:t>unsigned char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 err="1">
                <a:solidFill>
                  <a:srgbClr val="FF0000"/>
                </a:solidFill>
                <a:cs typeface="Arial" charset="0"/>
              </a:rPr>
              <a:t>int</a:t>
            </a:r>
            <a:r>
              <a:rPr lang="en-US" altLang="en-US" b="1" dirty="0">
                <a:solidFill>
                  <a:srgbClr val="FF0000"/>
                </a:solidFill>
                <a:cs typeface="Arial" charset="0"/>
              </a:rPr>
              <a:t>						16-bit value from -32,768 to 32,767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unsigned </a:t>
            </a:r>
            <a:r>
              <a:rPr lang="en-US" altLang="en-US" b="1" dirty="0" err="1">
                <a:solidFill>
                  <a:srgbClr val="000000"/>
                </a:solidFill>
                <a:cs typeface="Arial" charset="0"/>
              </a:rPr>
              <a:t>int</a:t>
            </a: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				16-bit value from 0 to 65535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word					same as </a:t>
            </a:r>
            <a:r>
              <a:rPr lang="en-US" altLang="en-US" b="1" i="1" dirty="0">
                <a:solidFill>
                  <a:srgbClr val="000000"/>
                </a:solidFill>
                <a:cs typeface="Arial" charset="0"/>
              </a:rPr>
              <a:t>unsigned </a:t>
            </a:r>
            <a:r>
              <a:rPr lang="en-US" altLang="en-US" b="1" i="1" dirty="0" err="1">
                <a:solidFill>
                  <a:srgbClr val="000000"/>
                </a:solidFill>
                <a:cs typeface="Arial" charset="0"/>
              </a:rPr>
              <a:t>int</a:t>
            </a:r>
            <a:endParaRPr lang="en-US" altLang="en-US" b="1" i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long						32-bit value from -2,147,483,648 to 2,147,483,647	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unsigned long			32-bit value from 0 to 4,294,967,295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short					same as </a:t>
            </a:r>
            <a:r>
              <a:rPr lang="en-US" altLang="en-US" b="1" i="1" dirty="0" err="1">
                <a:solidFill>
                  <a:srgbClr val="000000"/>
                </a:solidFill>
                <a:cs typeface="Arial" charset="0"/>
              </a:rPr>
              <a:t>int</a:t>
            </a:r>
            <a:endParaRPr lang="en-US" altLang="en-US" b="1" i="1" dirty="0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FF0000"/>
                </a:solidFill>
                <a:cs typeface="Arial" charset="0"/>
              </a:rPr>
              <a:t>float					32-bit value -3.4028235E+38 to 3.4028235E+38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double					same as </a:t>
            </a:r>
            <a:r>
              <a:rPr lang="en-US" altLang="en-US" b="1" i="1" dirty="0">
                <a:solidFill>
                  <a:srgbClr val="000000"/>
                </a:solidFill>
                <a:cs typeface="Arial" charset="0"/>
              </a:rPr>
              <a:t>float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 dirty="0">
                <a:solidFill>
                  <a:srgbClr val="000000"/>
                </a:solidFill>
                <a:cs typeface="Arial" charset="0"/>
              </a:rPr>
              <a:t>string					array of character</a:t>
            </a:r>
          </a:p>
        </p:txBody>
      </p:sp>
    </p:spTree>
    <p:extLst>
      <p:ext uri="{BB962C8B-B14F-4D97-AF65-F5344CB8AC3E}">
        <p14:creationId xmlns:p14="http://schemas.microsoft.com/office/powerpoint/2010/main" val="5028093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1"/>
          <p:cNvSpPr txBox="1">
            <a:spLocks noChangeArrowheads="1"/>
          </p:cNvSpPr>
          <p:nvPr/>
        </p:nvSpPr>
        <p:spPr bwMode="auto">
          <a:xfrm>
            <a:off x="2567521" y="66247"/>
            <a:ext cx="3532320" cy="547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Built-in functions</a:t>
            </a:r>
          </a:p>
        </p:txBody>
      </p:sp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632160" y="838168"/>
            <a:ext cx="2626560" cy="601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Digital I/O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pinMode()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digitalWrite()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digitalRead()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Analog I/O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analogReference()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analogRead()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analogWrite() - PWM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Advanced I/O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tone()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noTone()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shiftOut()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shiftIn()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pulseIn()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Time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altLang="en-US">
                <a:solidFill>
                  <a:srgbClr val="000000"/>
                </a:solidFill>
                <a:cs typeface="Arial" charset="0"/>
              </a:rPr>
              <a:t>millis()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micros()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delay()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  delayMicroseconds()</a:t>
            </a:r>
            <a:r>
              <a:rPr lang="en-US" altLang="en-US" b="1">
                <a:solidFill>
                  <a:srgbClr val="000000"/>
                </a:solidFill>
                <a:cs typeface="Arial" charset="0"/>
              </a:rPr>
              <a:t>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1988" name="Rectangle 1"/>
          <p:cNvSpPr>
            <a:spLocks noChangeArrowheads="1"/>
          </p:cNvSpPr>
          <p:nvPr/>
        </p:nvSpPr>
        <p:spPr bwMode="auto">
          <a:xfrm>
            <a:off x="3604321" y="838168"/>
            <a:ext cx="4570560" cy="3433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Math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min()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max()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abs()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constrain()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map()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pow()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sqrt()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 b="1">
                <a:solidFill>
                  <a:schemeClr val="tx1"/>
                </a:solidFill>
              </a:rPr>
              <a:t>Communication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Serial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altLang="en-US">
                <a:solidFill>
                  <a:schemeClr val="tx1"/>
                </a:solidFill>
              </a:rPr>
              <a:t>    Stream 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9999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1"/>
          <p:cNvSpPr txBox="1">
            <a:spLocks noChangeArrowheads="1"/>
          </p:cNvSpPr>
          <p:nvPr/>
        </p:nvSpPr>
        <p:spPr bwMode="auto">
          <a:xfrm>
            <a:off x="3258720" y="76328"/>
            <a:ext cx="2337120" cy="545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Serial Print</a:t>
            </a: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auto">
          <a:xfrm>
            <a:off x="614880" y="622146"/>
            <a:ext cx="8241120" cy="6161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6" tIns="45718" rIns="91436" bIns="45718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sz="2800" b="1">
                <a:solidFill>
                  <a:srgbClr val="000000"/>
                </a:solidFill>
                <a:cs typeface="Arial" charset="0"/>
              </a:rPr>
              <a:t>Serial.print() &amp; println()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US" altLang="en-US" b="1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Description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Prints data to the serial port as human-readable ASCII text followed by a carriage return character (ASCII 13, or '\r') and a newline character (ASCII 10, or '\n'). These commands are useful for communication with PC and debugging.</a:t>
            </a:r>
            <a:endParaRPr lang="en-US" altLang="en-US" b="1">
              <a:solidFill>
                <a:srgbClr val="000000"/>
              </a:solidFill>
              <a:cs typeface="Arial" charset="0"/>
            </a:endParaRP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Syntax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			</a:t>
            </a:r>
            <a:r>
              <a:rPr lang="en-US" altLang="en-US" b="1">
                <a:solidFill>
                  <a:schemeClr val="accent2"/>
                </a:solidFill>
                <a:cs typeface="Arial" charset="0"/>
              </a:rPr>
              <a:t>Serial.println(val)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chemeClr val="accent2"/>
                </a:solidFill>
                <a:cs typeface="Arial" charset="0"/>
              </a:rPr>
              <a:t>					Serial.println(val, format) 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 b="1">
                <a:solidFill>
                  <a:srgbClr val="000000"/>
                </a:solidFill>
                <a:cs typeface="Arial" charset="0"/>
              </a:rPr>
              <a:t>Example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	int analogValue = 0;    // variable to hold the analog value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void setup()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	Serial.begin(9600);	// open the serial port at 9600 bps: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}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void loop() {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	analogValue = analogRead(0); // read the analog input on pin 0: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		// print it out in many formats: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		Serial.println(analogValue);       // print as an ASCII-encoded decimal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		Serial.println(analogValue, DEC);  // print as an ASCII-encoded decimal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		Serial.println(analogValue, HEX);  // print as an ASCII-encoded hexadecimal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  		Serial.println(analogValue, BIN);  // print as an ASCII-encoded binary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altLang="en-US">
                <a:solidFill>
                  <a:srgbClr val="000000"/>
                </a:solidFill>
                <a:cs typeface="Arial" charset="0"/>
              </a:rPr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24857393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"/>
          <p:cNvSpPr txBox="1">
            <a:spLocks noChangeArrowheads="1"/>
          </p:cNvSpPr>
          <p:nvPr/>
        </p:nvSpPr>
        <p:spPr bwMode="auto">
          <a:xfrm>
            <a:off x="3258720" y="76328"/>
            <a:ext cx="2337120" cy="545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6" tIns="45718" rIns="91436" bIns="45718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en-US" altLang="en-US" sz="3200" b="1">
                <a:solidFill>
                  <a:srgbClr val="000000"/>
                </a:solidFill>
                <a:cs typeface="Arial" charset="0"/>
              </a:rPr>
              <a:t>Serial Print</a:t>
            </a:r>
          </a:p>
        </p:txBody>
      </p:sp>
      <p:sp>
        <p:nvSpPr>
          <p:cNvPr id="46083" name="Rectangle 1"/>
          <p:cNvSpPr>
            <a:spLocks noChangeArrowheads="1"/>
          </p:cNvSpPr>
          <p:nvPr/>
        </p:nvSpPr>
        <p:spPr bwMode="auto">
          <a:xfrm>
            <a:off x="701280" y="1078674"/>
            <a:ext cx="8087040" cy="3546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- Open serial port monitor (Menu </a:t>
            </a:r>
            <a:r>
              <a:rPr lang="en-US" sz="2200" b="1" dirty="0" err="1"/>
              <a:t>Tools</a:t>
            </a:r>
            <a:r>
              <a:rPr lang="en-US" sz="2200" b="1" dirty="0" err="1">
                <a:sym typeface="Wingdings" pitchFamily="2" charset="2"/>
              </a:rPr>
              <a:t>Serial</a:t>
            </a:r>
            <a:r>
              <a:rPr lang="en-US" sz="2200" b="1" dirty="0">
                <a:sym typeface="Wingdings" pitchFamily="2" charset="2"/>
              </a:rPr>
              <a:t> Monitor</a:t>
            </a:r>
            <a:r>
              <a:rPr lang="en-US" sz="2200" dirty="0">
                <a:sym typeface="Wingdings" pitchFamily="2" charset="2"/>
              </a:rPr>
              <a:t>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>
                <a:sym typeface="Wingdings" pitchFamily="2" charset="2"/>
              </a:rPr>
              <a:t>- Run the following sketch</a:t>
            </a:r>
            <a:endParaRPr lang="en-US" sz="2200" dirty="0"/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 sz="2200" dirty="0"/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void setup()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	</a:t>
            </a:r>
            <a:r>
              <a:rPr lang="en-US" sz="2200" dirty="0" err="1"/>
              <a:t>Serial.begin</a:t>
            </a:r>
            <a:r>
              <a:rPr lang="en-US" sz="2200" dirty="0"/>
              <a:t>(9600);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	</a:t>
            </a:r>
            <a:r>
              <a:rPr lang="en-US" sz="2200" dirty="0" err="1"/>
              <a:t>Serial.println</a:t>
            </a:r>
            <a:r>
              <a:rPr lang="en-US" sz="2200" dirty="0"/>
              <a:t>("Hello World");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}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void loop()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{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US" sz="2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96159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69654" y="-18634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</a:t>
            </a:r>
            <a:r>
              <a:rPr lang="en-US" sz="3600" b="1" dirty="0" err="1"/>
              <a:t>Input/Output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23545" y="551604"/>
            <a:ext cx="86828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1: Blinking external LED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Open blink example: </a:t>
            </a:r>
            <a:r>
              <a:rPr lang="en-US" sz="2200" i="1" dirty="0"/>
              <a:t>File </a:t>
            </a:r>
            <a:r>
              <a:rPr lang="en-US" sz="2200" i="1" dirty="0">
                <a:sym typeface="Wingdings" panose="05000000000000000000" pitchFamily="2" charset="2"/>
              </a:rPr>
              <a:t> Examples  01. Basics  Blink</a:t>
            </a:r>
            <a:endParaRPr lang="en-US" sz="22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Replace </a:t>
            </a:r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LED_BUILTIN</a:t>
            </a:r>
            <a:r>
              <a:rPr lang="en-US" sz="2200" dirty="0">
                <a:sym typeface="Wingdings" panose="05000000000000000000" pitchFamily="2" charset="2"/>
              </a:rPr>
              <a:t> with number </a:t>
            </a:r>
            <a:r>
              <a:rPr lang="en-US" sz="2800" b="1" dirty="0">
                <a:sym typeface="Wingdings" panose="05000000000000000000" pitchFamily="2" charset="2"/>
              </a:rPr>
              <a:t>23</a:t>
            </a:r>
            <a:endParaRPr lang="en-US" sz="2200" b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Connect resistor and LED to ESP32 at Pin D23</a:t>
            </a:r>
            <a:endParaRPr lang="en-US" sz="2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2504C5-F814-03D0-ACF2-AB5374405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173" t="5971" r="8589"/>
          <a:stretch/>
        </p:blipFill>
        <p:spPr>
          <a:xfrm>
            <a:off x="5864206" y="2738907"/>
            <a:ext cx="3095193" cy="35645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64F2C57-1CC8-7F94-F262-B559099A8A73}"/>
              </a:ext>
            </a:extLst>
          </p:cNvPr>
          <p:cNvSpPr/>
          <p:nvPr/>
        </p:nvSpPr>
        <p:spPr>
          <a:xfrm>
            <a:off x="531100" y="3132417"/>
            <a:ext cx="1480457" cy="31002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88CA41-ABCE-44EA-FF7C-BF6103C68DEC}"/>
              </a:ext>
            </a:extLst>
          </p:cNvPr>
          <p:cNvSpPr txBox="1"/>
          <p:nvPr/>
        </p:nvSpPr>
        <p:spPr>
          <a:xfrm>
            <a:off x="914417" y="2792397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ESP32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D6EAC6-C989-8BDD-406C-1A3DE05187DF}"/>
              </a:ext>
            </a:extLst>
          </p:cNvPr>
          <p:cNvGrpSpPr/>
          <p:nvPr/>
        </p:nvGrpSpPr>
        <p:grpSpPr>
          <a:xfrm>
            <a:off x="2011557" y="2977063"/>
            <a:ext cx="2010945" cy="476742"/>
            <a:chOff x="6781033" y="1723520"/>
            <a:chExt cx="2010945" cy="476742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B67005-F218-8B64-21A5-9069E9BA9D79}"/>
                </a:ext>
              </a:extLst>
            </p:cNvPr>
            <p:cNvCxnSpPr>
              <a:cxnSpLocks/>
            </p:cNvCxnSpPr>
            <p:nvPr/>
          </p:nvCxnSpPr>
          <p:spPr>
            <a:xfrm>
              <a:off x="6781033" y="2063540"/>
              <a:ext cx="55563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3" name="Picture 3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1D34154-2A89-7F9B-C9E8-D474372B5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7054736" y="1974770"/>
              <a:ext cx="1232079" cy="177540"/>
            </a:xfrm>
            <a:prstGeom prst="rect">
              <a:avLst/>
            </a:prstGeom>
          </p:spPr>
        </p:pic>
        <p:pic>
          <p:nvPicPr>
            <p:cNvPr id="34" name="Picture 3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82A5D452-EB88-9C8F-55E8-6457212B0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8080754" y="1723520"/>
              <a:ext cx="711224" cy="476742"/>
            </a:xfrm>
            <a:prstGeom prst="rect">
              <a:avLst/>
            </a:prstGeom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475A91-7A5B-A892-8C5A-4EC5D6A067E8}"/>
              </a:ext>
            </a:extLst>
          </p:cNvPr>
          <p:cNvCxnSpPr>
            <a:cxnSpLocks/>
          </p:cNvCxnSpPr>
          <p:nvPr/>
        </p:nvCxnSpPr>
        <p:spPr>
          <a:xfrm>
            <a:off x="3992451" y="3317083"/>
            <a:ext cx="0" cy="3104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2B13DA-9B51-B195-7E31-5740B86CCB10}"/>
              </a:ext>
            </a:extLst>
          </p:cNvPr>
          <p:cNvGrpSpPr/>
          <p:nvPr/>
        </p:nvGrpSpPr>
        <p:grpSpPr>
          <a:xfrm>
            <a:off x="3910885" y="3527521"/>
            <a:ext cx="636120" cy="307777"/>
            <a:chOff x="8680361" y="3188378"/>
            <a:chExt cx="636120" cy="30777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75F07B6-47A8-65D5-B876-BDCFC51A1804}"/>
                </a:ext>
              </a:extLst>
            </p:cNvPr>
            <p:cNvCxnSpPr/>
            <p:nvPr/>
          </p:nvCxnSpPr>
          <p:spPr>
            <a:xfrm>
              <a:off x="8680361" y="3288406"/>
              <a:ext cx="15883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CF5CB49-C6ED-2191-8F87-C56137433357}"/>
                </a:ext>
              </a:extLst>
            </p:cNvPr>
            <p:cNvSpPr txBox="1"/>
            <p:nvPr/>
          </p:nvSpPr>
          <p:spPr>
            <a:xfrm>
              <a:off x="8791978" y="3188378"/>
              <a:ext cx="5245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GND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B3EAF9-9283-4173-2FB1-65C2F52D6ECC}"/>
                </a:ext>
              </a:extLst>
            </p:cNvPr>
            <p:cNvCxnSpPr>
              <a:cxnSpLocks/>
            </p:cNvCxnSpPr>
            <p:nvPr/>
          </p:nvCxnSpPr>
          <p:spPr>
            <a:xfrm>
              <a:off x="8707191" y="3329189"/>
              <a:ext cx="10517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B012AEA-E749-1C7A-3BFA-9770E7172DD9}"/>
                </a:ext>
              </a:extLst>
            </p:cNvPr>
            <p:cNvCxnSpPr>
              <a:cxnSpLocks/>
            </p:cNvCxnSpPr>
            <p:nvPr/>
          </p:nvCxnSpPr>
          <p:spPr>
            <a:xfrm>
              <a:off x="8728655" y="3379847"/>
              <a:ext cx="6117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65B3AB9A-02B4-9C4D-6494-AB3159B749D5}"/>
              </a:ext>
            </a:extLst>
          </p:cNvPr>
          <p:cNvSpPr/>
          <p:nvPr/>
        </p:nvSpPr>
        <p:spPr>
          <a:xfrm>
            <a:off x="3944150" y="3271961"/>
            <a:ext cx="81567" cy="8156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3B35C22-565F-AFCF-B3F7-3ECD2CB6E3A1}"/>
              </a:ext>
            </a:extLst>
          </p:cNvPr>
          <p:cNvSpPr/>
          <p:nvPr/>
        </p:nvSpPr>
        <p:spPr>
          <a:xfrm rot="5400000">
            <a:off x="3534086" y="3227266"/>
            <a:ext cx="247014" cy="206064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84435F-C993-68C8-4F88-EE303FDB4CD6}"/>
              </a:ext>
            </a:extLst>
          </p:cNvPr>
          <p:cNvSpPr txBox="1"/>
          <p:nvPr/>
        </p:nvSpPr>
        <p:spPr>
          <a:xfrm>
            <a:off x="1576823" y="3161729"/>
            <a:ext cx="4780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FA6CB5-CFFC-B486-327B-DDC585A701AA}"/>
              </a:ext>
            </a:extLst>
          </p:cNvPr>
          <p:cNvSpPr txBox="1"/>
          <p:nvPr/>
        </p:nvSpPr>
        <p:spPr>
          <a:xfrm>
            <a:off x="2586576" y="2985259"/>
            <a:ext cx="7200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620 Ohm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CB64CC7-2C01-E451-38DE-EA1BFE993A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867786">
            <a:off x="3120442" y="4228933"/>
            <a:ext cx="1799823" cy="179982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20D6EFC-74A5-4AF8-DA72-B9F1AD258E54}"/>
              </a:ext>
            </a:extLst>
          </p:cNvPr>
          <p:cNvSpPr txBox="1"/>
          <p:nvPr/>
        </p:nvSpPr>
        <p:spPr>
          <a:xfrm>
            <a:off x="3395478" y="5335654"/>
            <a:ext cx="1294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Resistor 620 Ohm</a:t>
            </a:r>
          </a:p>
        </p:txBody>
      </p:sp>
    </p:spTree>
    <p:extLst>
      <p:ext uri="{BB962C8B-B14F-4D97-AF65-F5344CB8AC3E}">
        <p14:creationId xmlns:p14="http://schemas.microsoft.com/office/powerpoint/2010/main" val="157155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F63-0D02-B318-8EAE-D7D668D58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EF0EAA7-019C-4AAD-A343-004906C68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ESP32 Extension 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123B4-3562-FFA8-A3A4-FB2826B2E996}"/>
              </a:ext>
            </a:extLst>
          </p:cNvPr>
          <p:cNvSpPr/>
          <p:nvPr/>
        </p:nvSpPr>
        <p:spPr>
          <a:xfrm>
            <a:off x="156693" y="534474"/>
            <a:ext cx="8915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Pins extension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External power supply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dirty="0">
              <a:solidFill>
                <a:prstClr val="black"/>
              </a:solidFill>
              <a:latin typeface="Calibri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 (Signal</a:t>
            </a:r>
            <a:r>
              <a:rPr lang="en-US" sz="2400" b="1" dirty="0">
                <a:solidFill>
                  <a:srgbClr val="FF0000"/>
                </a:solidFill>
                <a:latin typeface="Calibri"/>
              </a:rPr>
              <a:t>) Pins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 (3V Power supply) Pins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>
                <a:solidFill>
                  <a:srgbClr val="00B050"/>
                </a:solidFill>
                <a:latin typeface="Calibri"/>
              </a:rPr>
              <a:t>G (Ground) Pins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C1231-E82B-4490-DAD2-0915EB3291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111" b="13866"/>
          <a:stretch/>
        </p:blipFill>
        <p:spPr>
          <a:xfrm rot="16200000">
            <a:off x="3067402" y="1620097"/>
            <a:ext cx="5985372" cy="449043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F7F4443-0252-5318-4CE3-9D6D3DB62974}"/>
              </a:ext>
            </a:extLst>
          </p:cNvPr>
          <p:cNvGrpSpPr/>
          <p:nvPr/>
        </p:nvGrpSpPr>
        <p:grpSpPr>
          <a:xfrm>
            <a:off x="4181341" y="1536879"/>
            <a:ext cx="3745606" cy="2644462"/>
            <a:chOff x="4181341" y="1536879"/>
            <a:chExt cx="3745606" cy="26444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158B40-FE9B-030E-7B22-AB193F71C7F5}"/>
                </a:ext>
              </a:extLst>
            </p:cNvPr>
            <p:cNvSpPr/>
            <p:nvPr/>
          </p:nvSpPr>
          <p:spPr>
            <a:xfrm>
              <a:off x="4181341" y="1536879"/>
              <a:ext cx="201769" cy="26444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569561-50F6-E745-C500-8B7EA00B9B36}"/>
                </a:ext>
              </a:extLst>
            </p:cNvPr>
            <p:cNvSpPr/>
            <p:nvPr/>
          </p:nvSpPr>
          <p:spPr>
            <a:xfrm>
              <a:off x="7725178" y="1536879"/>
              <a:ext cx="201769" cy="26444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A85D513-B2F3-8134-B524-C998FFFB5E9D}"/>
                </a:ext>
              </a:extLst>
            </p:cNvPr>
            <p:cNvSpPr/>
            <p:nvPr/>
          </p:nvSpPr>
          <p:spPr>
            <a:xfrm>
              <a:off x="4383110" y="1536879"/>
              <a:ext cx="201769" cy="264446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FADFCB-90FB-786C-21D7-CF916CE83DBA}"/>
                </a:ext>
              </a:extLst>
            </p:cNvPr>
            <p:cNvSpPr/>
            <p:nvPr/>
          </p:nvSpPr>
          <p:spPr>
            <a:xfrm>
              <a:off x="7523409" y="1536879"/>
              <a:ext cx="201769" cy="264446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850ABF-56CB-7477-C0B4-F6AE10E6F784}"/>
                </a:ext>
              </a:extLst>
            </p:cNvPr>
            <p:cNvSpPr/>
            <p:nvPr/>
          </p:nvSpPr>
          <p:spPr>
            <a:xfrm>
              <a:off x="4603661" y="1536879"/>
              <a:ext cx="201769" cy="2644462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0B99B3-7A4A-DEDC-3CC0-065F1CF43317}"/>
                </a:ext>
              </a:extLst>
            </p:cNvPr>
            <p:cNvSpPr/>
            <p:nvPr/>
          </p:nvSpPr>
          <p:spPr>
            <a:xfrm>
              <a:off x="7302858" y="1536879"/>
              <a:ext cx="201769" cy="2644462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9938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F50E9-D898-6470-03FC-1838451E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E5299611-E8FA-AAFC-AE08-82D9B69CD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Circuit Construction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9A785-699D-EED2-7B1D-BE35CB54DB54}"/>
              </a:ext>
            </a:extLst>
          </p:cNvPr>
          <p:cNvSpPr/>
          <p:nvPr/>
        </p:nvSpPr>
        <p:spPr>
          <a:xfrm>
            <a:off x="152400" y="762000"/>
            <a:ext cx="8915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Prototyping board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Pre-connected conductor stripes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Horizontal stripes on 2 top rows and 2 bottom rows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Vertical stripes in the middle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3D186B-EEB4-524E-AC34-A672B241C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61" t="3883" r="5697" b="5289"/>
          <a:stretch/>
        </p:blipFill>
        <p:spPr>
          <a:xfrm rot="16200000">
            <a:off x="2210483" y="1534149"/>
            <a:ext cx="4310909" cy="598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5328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0779-5463-4541-C6DC-D3C0F7F4E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1A52565-DB11-9224-8CD6-8BFBB2848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Circuit Construction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AA8852-2029-624A-052D-8C5A670CEA8E}"/>
              </a:ext>
            </a:extLst>
          </p:cNvPr>
          <p:cNvSpPr/>
          <p:nvPr/>
        </p:nvSpPr>
        <p:spPr>
          <a:xfrm>
            <a:off x="152400" y="762000"/>
            <a:ext cx="8915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Prototyping board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Pre-connected conductor stripes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Horizontal stripes on 2 top rows and 2 bottom rows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Vertical stripes in the middle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B0DF86-8CE0-1665-589B-58A4AA755A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 t="6781" r="32038" b="5674"/>
          <a:stretch/>
        </p:blipFill>
        <p:spPr bwMode="auto">
          <a:xfrm>
            <a:off x="2263462" y="2582918"/>
            <a:ext cx="5127734" cy="3460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148C3C-6F1B-697A-CA20-0FC0EC763A6E}"/>
              </a:ext>
            </a:extLst>
          </p:cNvPr>
          <p:cNvCxnSpPr/>
          <p:nvPr/>
        </p:nvCxnSpPr>
        <p:spPr>
          <a:xfrm flipH="1">
            <a:off x="2722251" y="3125514"/>
            <a:ext cx="4008386" cy="0"/>
          </a:xfrm>
          <a:prstGeom prst="line">
            <a:avLst/>
          </a:prstGeom>
          <a:ln w="38100">
            <a:solidFill>
              <a:schemeClr val="accent1">
                <a:lumMod val="50000"/>
                <a:alpha val="5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8008E8-BE57-EEA7-6090-4A9E5D8A8208}"/>
              </a:ext>
            </a:extLst>
          </p:cNvPr>
          <p:cNvCxnSpPr/>
          <p:nvPr/>
        </p:nvCxnSpPr>
        <p:spPr>
          <a:xfrm flipH="1">
            <a:off x="2715685" y="3258210"/>
            <a:ext cx="4014952" cy="0"/>
          </a:xfrm>
          <a:prstGeom prst="line">
            <a:avLst/>
          </a:prstGeom>
          <a:ln w="38100">
            <a:solidFill>
              <a:schemeClr val="accent1">
                <a:lumMod val="50000"/>
                <a:alpha val="5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89D317-BAB3-9765-53D0-F6386B034060}"/>
              </a:ext>
            </a:extLst>
          </p:cNvPr>
          <p:cNvCxnSpPr/>
          <p:nvPr/>
        </p:nvCxnSpPr>
        <p:spPr>
          <a:xfrm flipH="1">
            <a:off x="2682840" y="5684784"/>
            <a:ext cx="4047797" cy="0"/>
          </a:xfrm>
          <a:prstGeom prst="line">
            <a:avLst/>
          </a:prstGeom>
          <a:ln w="38100">
            <a:solidFill>
              <a:schemeClr val="accent1">
                <a:lumMod val="5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B66DC1-59AB-BB25-49CE-6C8155B603EE}"/>
              </a:ext>
            </a:extLst>
          </p:cNvPr>
          <p:cNvCxnSpPr/>
          <p:nvPr/>
        </p:nvCxnSpPr>
        <p:spPr>
          <a:xfrm flipH="1">
            <a:off x="2682840" y="5821418"/>
            <a:ext cx="4047797" cy="0"/>
          </a:xfrm>
          <a:prstGeom prst="line">
            <a:avLst/>
          </a:prstGeom>
          <a:ln w="38100">
            <a:solidFill>
              <a:schemeClr val="accent1">
                <a:lumMod val="50000"/>
                <a:alpha val="5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758B3B-3A70-58A4-5C06-6D878E9568D7}"/>
              </a:ext>
            </a:extLst>
          </p:cNvPr>
          <p:cNvCxnSpPr/>
          <p:nvPr/>
        </p:nvCxnSpPr>
        <p:spPr>
          <a:xfrm>
            <a:off x="2682840" y="3627384"/>
            <a:ext cx="0" cy="685800"/>
          </a:xfrm>
          <a:prstGeom prst="line">
            <a:avLst/>
          </a:prstGeom>
          <a:ln w="38100">
            <a:solidFill>
              <a:srgbClr val="C00000">
                <a:alpha val="5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1B973B-9F94-8A22-C26F-7F36D8FE5342}"/>
              </a:ext>
            </a:extLst>
          </p:cNvPr>
          <p:cNvCxnSpPr/>
          <p:nvPr/>
        </p:nvCxnSpPr>
        <p:spPr>
          <a:xfrm>
            <a:off x="2676273" y="4617984"/>
            <a:ext cx="0" cy="685800"/>
          </a:xfrm>
          <a:prstGeom prst="line">
            <a:avLst/>
          </a:prstGeom>
          <a:ln w="38100">
            <a:solidFill>
              <a:srgbClr val="FF0000">
                <a:alpha val="4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A1B032-37C9-3723-E2F1-D2C8EAC3783A}"/>
              </a:ext>
            </a:extLst>
          </p:cNvPr>
          <p:cNvCxnSpPr/>
          <p:nvPr/>
        </p:nvCxnSpPr>
        <p:spPr>
          <a:xfrm>
            <a:off x="2816850" y="4617984"/>
            <a:ext cx="0" cy="685800"/>
          </a:xfrm>
          <a:prstGeom prst="line">
            <a:avLst/>
          </a:prstGeom>
          <a:ln w="38100">
            <a:solidFill>
              <a:srgbClr val="FF0000">
                <a:alpha val="4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501A3F-C8FA-5F85-A34E-6552C2872F36}"/>
              </a:ext>
            </a:extLst>
          </p:cNvPr>
          <p:cNvCxnSpPr/>
          <p:nvPr/>
        </p:nvCxnSpPr>
        <p:spPr>
          <a:xfrm>
            <a:off x="2963988" y="4617984"/>
            <a:ext cx="0" cy="685800"/>
          </a:xfrm>
          <a:prstGeom prst="line">
            <a:avLst/>
          </a:prstGeom>
          <a:ln w="38100">
            <a:solidFill>
              <a:srgbClr val="FF0000">
                <a:alpha val="44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1266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AED7-08C9-74BA-EB6D-B0D75EC8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465A76-FCE9-2D9B-A2CC-73CB8A4038FF}"/>
              </a:ext>
            </a:extLst>
          </p:cNvPr>
          <p:cNvSpPr txBox="1"/>
          <p:nvPr/>
        </p:nvSpPr>
        <p:spPr>
          <a:xfrm>
            <a:off x="3263673" y="81644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</a:t>
            </a:r>
            <a:r>
              <a:rPr lang="en-US" sz="3600" b="1" dirty="0" err="1"/>
              <a:t>Input/Output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3576A-DFAD-F2D0-C8BB-CD739176F5C7}"/>
              </a:ext>
            </a:extLst>
          </p:cNvPr>
          <p:cNvSpPr txBox="1"/>
          <p:nvPr/>
        </p:nvSpPr>
        <p:spPr>
          <a:xfrm>
            <a:off x="323545" y="727975"/>
            <a:ext cx="8682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Exercise 1: Blinking 3 external LEDs</a:t>
            </a:r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F67076-86F9-3F84-CE48-44D6173B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137" y="2495351"/>
            <a:ext cx="2919789" cy="290519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D07011FD-FA4A-7EE2-70BD-04FB0D17E9E0}"/>
              </a:ext>
            </a:extLst>
          </p:cNvPr>
          <p:cNvGrpSpPr/>
          <p:nvPr/>
        </p:nvGrpSpPr>
        <p:grpSpPr>
          <a:xfrm>
            <a:off x="861686" y="1717184"/>
            <a:ext cx="4672355" cy="4270787"/>
            <a:chOff x="1273782" y="2766640"/>
            <a:chExt cx="3865222" cy="344027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A3AB98-4816-7E7B-2EFE-0397A5E63E32}"/>
                </a:ext>
              </a:extLst>
            </p:cNvPr>
            <p:cNvSpPr/>
            <p:nvPr/>
          </p:nvSpPr>
          <p:spPr>
            <a:xfrm>
              <a:off x="1273782" y="3106660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6ED174-C785-FF6C-B71C-874E2742A111}"/>
                </a:ext>
              </a:extLst>
            </p:cNvPr>
            <p:cNvSpPr txBox="1"/>
            <p:nvPr/>
          </p:nvSpPr>
          <p:spPr>
            <a:xfrm>
              <a:off x="1657099" y="2766640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4A4BEE-551F-9F90-37CB-7E01ECF18934}"/>
                </a:ext>
              </a:extLst>
            </p:cNvPr>
            <p:cNvGrpSpPr/>
            <p:nvPr/>
          </p:nvGrpSpPr>
          <p:grpSpPr>
            <a:xfrm>
              <a:off x="2754239" y="2951306"/>
              <a:ext cx="2010945" cy="476742"/>
              <a:chOff x="6781033" y="1723520"/>
              <a:chExt cx="2010945" cy="476742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C83CECC-DF35-4439-44B7-B20D563E6F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0" name="Picture 9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7C4AB57-DF25-0DEC-3F27-F58BBFA06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11" name="Picture 10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B9E851C8-C7B7-7B86-7AF0-8DE0EDA7B8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4E6A446-943E-A47B-5035-2D5E367CB7C2}"/>
                </a:ext>
              </a:extLst>
            </p:cNvPr>
            <p:cNvGrpSpPr/>
            <p:nvPr/>
          </p:nvGrpSpPr>
          <p:grpSpPr>
            <a:xfrm>
              <a:off x="2754239" y="3428048"/>
              <a:ext cx="2010945" cy="476742"/>
              <a:chOff x="6781033" y="1723520"/>
              <a:chExt cx="2010945" cy="47674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0860CB8-1395-F68F-A74F-FC9AE2F1F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Picture 1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3A0EF66-E9E6-85D8-144A-07CF0FA70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18" name="Picture 1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565624BA-BED2-B74A-ABE0-4719EFEAA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736CD0C-C31D-3A15-B4F8-1DFF77A49B73}"/>
                </a:ext>
              </a:extLst>
            </p:cNvPr>
            <p:cNvGrpSpPr/>
            <p:nvPr/>
          </p:nvGrpSpPr>
          <p:grpSpPr>
            <a:xfrm>
              <a:off x="2754239" y="3881299"/>
              <a:ext cx="2010945" cy="476742"/>
              <a:chOff x="6781033" y="1723520"/>
              <a:chExt cx="2010945" cy="476742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50E1440-341B-A9CD-C047-D8A0CED419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3" name="Picture 2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AA301EA-4A40-27F9-CCB3-8765902B2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25" name="Picture 2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8CD27E3-92E5-C7C4-84FB-60663B4B3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4653BFB-360A-9BFF-658E-6140B3DA80AD}"/>
                </a:ext>
              </a:extLst>
            </p:cNvPr>
            <p:cNvCxnSpPr>
              <a:cxnSpLocks/>
            </p:cNvCxnSpPr>
            <p:nvPr/>
          </p:nvCxnSpPr>
          <p:spPr>
            <a:xfrm>
              <a:off x="4735133" y="3291326"/>
              <a:ext cx="0" cy="1224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5F2463-2404-F4D1-2F3F-E40497E6F29F}"/>
                </a:ext>
              </a:extLst>
            </p:cNvPr>
            <p:cNvGrpSpPr/>
            <p:nvPr/>
          </p:nvGrpSpPr>
          <p:grpSpPr>
            <a:xfrm>
              <a:off x="4653567" y="4416164"/>
              <a:ext cx="485437" cy="200055"/>
              <a:chOff x="8680361" y="3188378"/>
              <a:chExt cx="485437" cy="200055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E493B72-FEDA-DACF-DD51-05715D9B2523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AA17E8-AAC5-6197-8589-97C8D50384E8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481350F-657A-12AF-B414-8AAC5DA02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6D8A18B-F7A6-EABB-7097-1794AEBFE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5793F43-F63F-349A-1FB6-746DB1027A08}"/>
                </a:ext>
              </a:extLst>
            </p:cNvPr>
            <p:cNvSpPr/>
            <p:nvPr/>
          </p:nvSpPr>
          <p:spPr>
            <a:xfrm>
              <a:off x="4691664" y="372065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BF7E12B-543E-1F06-8673-D91B389134E0}"/>
                </a:ext>
              </a:extLst>
            </p:cNvPr>
            <p:cNvSpPr/>
            <p:nvPr/>
          </p:nvSpPr>
          <p:spPr>
            <a:xfrm>
              <a:off x="4686832" y="3246204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1841D60-6A4C-B89A-F5E0-DB5C85946FCA}"/>
                </a:ext>
              </a:extLst>
            </p:cNvPr>
            <p:cNvSpPr/>
            <p:nvPr/>
          </p:nvSpPr>
          <p:spPr>
            <a:xfrm>
              <a:off x="4691664" y="4166224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23167D8D-8CF8-AD10-8CA4-247DA437AC7E}"/>
                </a:ext>
              </a:extLst>
            </p:cNvPr>
            <p:cNvSpPr/>
            <p:nvPr/>
          </p:nvSpPr>
          <p:spPr>
            <a:xfrm rot="5400000">
              <a:off x="4276768" y="3201509"/>
              <a:ext cx="247014" cy="20606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30966D82-9417-732E-F9CE-6120CBE3C73D}"/>
                </a:ext>
              </a:extLst>
            </p:cNvPr>
            <p:cNvSpPr/>
            <p:nvPr/>
          </p:nvSpPr>
          <p:spPr>
            <a:xfrm rot="5400000">
              <a:off x="4276768" y="3668624"/>
              <a:ext cx="247014" cy="206064"/>
            </a:xfrm>
            <a:prstGeom prst="triangl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1E55E21A-58A0-DD42-C665-472585F97C4B}"/>
                </a:ext>
              </a:extLst>
            </p:cNvPr>
            <p:cNvSpPr/>
            <p:nvPr/>
          </p:nvSpPr>
          <p:spPr>
            <a:xfrm rot="5400000">
              <a:off x="4276768" y="4118287"/>
              <a:ext cx="247014" cy="206064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693259-FAE8-9843-04D8-A149822C6778}"/>
                </a:ext>
              </a:extLst>
            </p:cNvPr>
            <p:cNvSpPr txBox="1"/>
            <p:nvPr/>
          </p:nvSpPr>
          <p:spPr>
            <a:xfrm>
              <a:off x="2386230" y="3159837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9CC4E6-BAB9-F45C-8ABC-F52CF79256B2}"/>
                </a:ext>
              </a:extLst>
            </p:cNvPr>
            <p:cNvSpPr txBox="1"/>
            <p:nvPr/>
          </p:nvSpPr>
          <p:spPr>
            <a:xfrm>
              <a:off x="2400675" y="3644105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FF81C13-DC50-AA15-4366-08D7BE1FB400}"/>
                </a:ext>
              </a:extLst>
            </p:cNvPr>
            <p:cNvSpPr txBox="1"/>
            <p:nvPr/>
          </p:nvSpPr>
          <p:spPr>
            <a:xfrm>
              <a:off x="2393998" y="4090443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227E18-D4F2-C0AA-96DC-135D3E5A73A7}"/>
                </a:ext>
              </a:extLst>
            </p:cNvPr>
            <p:cNvSpPr txBox="1"/>
            <p:nvPr/>
          </p:nvSpPr>
          <p:spPr>
            <a:xfrm>
              <a:off x="3387392" y="2991819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5EACE3-7CFC-7B54-45A3-DC1322ED7C06}"/>
                </a:ext>
              </a:extLst>
            </p:cNvPr>
            <p:cNvSpPr txBox="1"/>
            <p:nvPr/>
          </p:nvSpPr>
          <p:spPr>
            <a:xfrm>
              <a:off x="3367608" y="3478595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045132-B515-EDC2-4396-D71379F99B3A}"/>
                </a:ext>
              </a:extLst>
            </p:cNvPr>
            <p:cNvSpPr txBox="1"/>
            <p:nvPr/>
          </p:nvSpPr>
          <p:spPr>
            <a:xfrm>
              <a:off x="3349547" y="3935486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93509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A420F-65A9-AB85-C69A-4536F0375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8BB11E-393C-4BBD-ABCF-72547D99985F}"/>
              </a:ext>
            </a:extLst>
          </p:cNvPr>
          <p:cNvSpPr txBox="1"/>
          <p:nvPr/>
        </p:nvSpPr>
        <p:spPr>
          <a:xfrm>
            <a:off x="3263673" y="81644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</a:t>
            </a:r>
            <a:r>
              <a:rPr lang="en-US" sz="3600" b="1" dirty="0" err="1"/>
              <a:t>Input/Output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6ADF2-7187-4503-39EA-34430896F3B3}"/>
              </a:ext>
            </a:extLst>
          </p:cNvPr>
          <p:cNvSpPr txBox="1"/>
          <p:nvPr/>
        </p:nvSpPr>
        <p:spPr>
          <a:xfrm>
            <a:off x="323545" y="727975"/>
            <a:ext cx="8682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Exercise 2: Chasing LEDs</a:t>
            </a:r>
          </a:p>
          <a:p>
            <a:r>
              <a:rPr lang="en-US" sz="2400" dirty="0"/>
              <a:t>	</a:t>
            </a:r>
            <a:r>
              <a:rPr lang="en-US" sz="2000" dirty="0">
                <a:solidFill>
                  <a:srgbClr val="7030A0"/>
                </a:solidFill>
              </a:rPr>
              <a:t>Modify your sketch to make chasing LEDs</a:t>
            </a:r>
            <a:endParaRPr lang="en-US" sz="2400" dirty="0">
              <a:solidFill>
                <a:srgbClr val="7030A0"/>
              </a:solidFill>
            </a:endParaRPr>
          </a:p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11447-5A08-10D4-5EE7-3BEE6414A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137" y="2495351"/>
            <a:ext cx="2919789" cy="2905190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5C944D23-BEDB-8FEC-E819-8B7795C3BCC4}"/>
              </a:ext>
            </a:extLst>
          </p:cNvPr>
          <p:cNvGrpSpPr/>
          <p:nvPr/>
        </p:nvGrpSpPr>
        <p:grpSpPr>
          <a:xfrm>
            <a:off x="861686" y="1717184"/>
            <a:ext cx="4672355" cy="4270787"/>
            <a:chOff x="1273782" y="2766640"/>
            <a:chExt cx="3865222" cy="344027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BA94D07-53F4-5A4B-1E0E-0ECDD64EE5B5}"/>
                </a:ext>
              </a:extLst>
            </p:cNvPr>
            <p:cNvSpPr/>
            <p:nvPr/>
          </p:nvSpPr>
          <p:spPr>
            <a:xfrm>
              <a:off x="1273782" y="3106660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B984C0-EFB3-46D0-9C08-C63B08DF68D6}"/>
                </a:ext>
              </a:extLst>
            </p:cNvPr>
            <p:cNvSpPr txBox="1"/>
            <p:nvPr/>
          </p:nvSpPr>
          <p:spPr>
            <a:xfrm>
              <a:off x="1657099" y="2766640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B998889-F950-851C-8B6D-BC7008E33FFE}"/>
                </a:ext>
              </a:extLst>
            </p:cNvPr>
            <p:cNvGrpSpPr/>
            <p:nvPr/>
          </p:nvGrpSpPr>
          <p:grpSpPr>
            <a:xfrm>
              <a:off x="2754239" y="2951306"/>
              <a:ext cx="2010945" cy="476742"/>
              <a:chOff x="6781033" y="1723520"/>
              <a:chExt cx="2010945" cy="476742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43035E3-F854-6AA3-0894-5A3819A69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0" name="Picture 9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0AE2385-9868-32F3-22EA-5ECB9C6D26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11" name="Picture 10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CD9CB009-CB41-F9B8-7FBF-CAB4516AC9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2556DB0-0F37-590D-DF7A-61534A9792A5}"/>
                </a:ext>
              </a:extLst>
            </p:cNvPr>
            <p:cNvGrpSpPr/>
            <p:nvPr/>
          </p:nvGrpSpPr>
          <p:grpSpPr>
            <a:xfrm>
              <a:off x="2754239" y="3428048"/>
              <a:ext cx="2010945" cy="476742"/>
              <a:chOff x="6781033" y="1723520"/>
              <a:chExt cx="2010945" cy="47674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DDE0AF4-B1AC-3679-856F-B9A9FD8C5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Picture 1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1A0D9D5-A679-8834-C497-88364225C5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18" name="Picture 1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A298D1CF-61F6-C8C6-EEF0-E61C6D4DD6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6B1C586-C80F-080C-337C-F2598DDB210A}"/>
                </a:ext>
              </a:extLst>
            </p:cNvPr>
            <p:cNvGrpSpPr/>
            <p:nvPr/>
          </p:nvGrpSpPr>
          <p:grpSpPr>
            <a:xfrm>
              <a:off x="2754239" y="3881299"/>
              <a:ext cx="2010945" cy="476742"/>
              <a:chOff x="6781033" y="1723520"/>
              <a:chExt cx="2010945" cy="476742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6CA1BFF-F273-62CB-8F58-0B131BBD47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3" name="Picture 2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4AC21E7-503E-C3C1-1536-1A200FFDFC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25" name="Picture 2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6E737B06-AAC4-3118-6C83-F5151E955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6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8975EF7-E42A-E923-9842-4BA119B8AF47}"/>
                </a:ext>
              </a:extLst>
            </p:cNvPr>
            <p:cNvCxnSpPr>
              <a:cxnSpLocks/>
            </p:cNvCxnSpPr>
            <p:nvPr/>
          </p:nvCxnSpPr>
          <p:spPr>
            <a:xfrm>
              <a:off x="4735133" y="3291326"/>
              <a:ext cx="0" cy="1224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7B205AF-DC3B-871E-B30A-58A1015858FA}"/>
                </a:ext>
              </a:extLst>
            </p:cNvPr>
            <p:cNvGrpSpPr/>
            <p:nvPr/>
          </p:nvGrpSpPr>
          <p:grpSpPr>
            <a:xfrm>
              <a:off x="4653567" y="4416164"/>
              <a:ext cx="485437" cy="200055"/>
              <a:chOff x="8680361" y="3188378"/>
              <a:chExt cx="485437" cy="200055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0457611-E89E-99C5-C1D7-DC0F5D74B821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8E6162B-9F1A-E90C-4AD9-1E2C3E7A03DE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50BFCE6-D5B3-8514-9801-13559FF71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F582BC0-A36B-11D8-FA8D-F2ADD9A734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07C0B3D-D36E-768F-914F-734680E1DFA1}"/>
                </a:ext>
              </a:extLst>
            </p:cNvPr>
            <p:cNvSpPr/>
            <p:nvPr/>
          </p:nvSpPr>
          <p:spPr>
            <a:xfrm>
              <a:off x="4691664" y="372065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B027055-C8C7-3A81-55FF-D883AB1B67E8}"/>
                </a:ext>
              </a:extLst>
            </p:cNvPr>
            <p:cNvSpPr/>
            <p:nvPr/>
          </p:nvSpPr>
          <p:spPr>
            <a:xfrm>
              <a:off x="4686832" y="3246204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9E75D5C-3F74-B96C-649A-79D8B95EB64D}"/>
                </a:ext>
              </a:extLst>
            </p:cNvPr>
            <p:cNvSpPr/>
            <p:nvPr/>
          </p:nvSpPr>
          <p:spPr>
            <a:xfrm>
              <a:off x="4691664" y="4166224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76E37BB6-A0BA-45E5-4C17-FD947F30132F}"/>
                </a:ext>
              </a:extLst>
            </p:cNvPr>
            <p:cNvSpPr/>
            <p:nvPr/>
          </p:nvSpPr>
          <p:spPr>
            <a:xfrm rot="5400000">
              <a:off x="4276768" y="3201509"/>
              <a:ext cx="247014" cy="20606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4787260F-41C5-99C9-3A24-5B73DE89E21A}"/>
                </a:ext>
              </a:extLst>
            </p:cNvPr>
            <p:cNvSpPr/>
            <p:nvPr/>
          </p:nvSpPr>
          <p:spPr>
            <a:xfrm rot="5400000">
              <a:off x="4276768" y="3668624"/>
              <a:ext cx="247014" cy="206064"/>
            </a:xfrm>
            <a:prstGeom prst="triangl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DCD7DD0F-D03F-FFE8-EFF4-69A75A90F5D9}"/>
                </a:ext>
              </a:extLst>
            </p:cNvPr>
            <p:cNvSpPr/>
            <p:nvPr/>
          </p:nvSpPr>
          <p:spPr>
            <a:xfrm rot="5400000">
              <a:off x="4276768" y="4118287"/>
              <a:ext cx="247014" cy="206064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29DAD4-DA79-10F1-2FDF-7C0B4786DDCF}"/>
                </a:ext>
              </a:extLst>
            </p:cNvPr>
            <p:cNvSpPr txBox="1"/>
            <p:nvPr/>
          </p:nvSpPr>
          <p:spPr>
            <a:xfrm>
              <a:off x="2386230" y="3159837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9AC0A3F-1B91-FD3B-DF25-AE3712A815EE}"/>
                </a:ext>
              </a:extLst>
            </p:cNvPr>
            <p:cNvSpPr txBox="1"/>
            <p:nvPr/>
          </p:nvSpPr>
          <p:spPr>
            <a:xfrm>
              <a:off x="2400675" y="3644105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EE265ED-B03D-DB4A-19B6-9DE5A731AB94}"/>
                </a:ext>
              </a:extLst>
            </p:cNvPr>
            <p:cNvSpPr txBox="1"/>
            <p:nvPr/>
          </p:nvSpPr>
          <p:spPr>
            <a:xfrm>
              <a:off x="2393998" y="4090443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138454D-0BEC-847A-B380-ADA65096C98D}"/>
                </a:ext>
              </a:extLst>
            </p:cNvPr>
            <p:cNvSpPr txBox="1"/>
            <p:nvPr/>
          </p:nvSpPr>
          <p:spPr>
            <a:xfrm>
              <a:off x="3387392" y="2991819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AE99DA0-4EDB-BD41-D664-56756127D69C}"/>
                </a:ext>
              </a:extLst>
            </p:cNvPr>
            <p:cNvSpPr txBox="1"/>
            <p:nvPr/>
          </p:nvSpPr>
          <p:spPr>
            <a:xfrm>
              <a:off x="3367608" y="3478595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EC535A4-94AE-A6CD-5DB8-2B26F9A08689}"/>
                </a:ext>
              </a:extLst>
            </p:cNvPr>
            <p:cNvSpPr txBox="1"/>
            <p:nvPr/>
          </p:nvSpPr>
          <p:spPr>
            <a:xfrm>
              <a:off x="3349547" y="3935486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46D04007-08EF-85F8-3B57-ADE92F833CB1}"/>
              </a:ext>
            </a:extLst>
          </p:cNvPr>
          <p:cNvSpPr/>
          <p:nvPr/>
        </p:nvSpPr>
        <p:spPr>
          <a:xfrm>
            <a:off x="3558862" y="4627808"/>
            <a:ext cx="223234" cy="220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B0EF0D9-5ACB-890B-F512-5AA92B7BE6FE}"/>
              </a:ext>
            </a:extLst>
          </p:cNvPr>
          <p:cNvSpPr/>
          <p:nvPr/>
        </p:nvSpPr>
        <p:spPr>
          <a:xfrm>
            <a:off x="3822879" y="4627808"/>
            <a:ext cx="223234" cy="220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58CA96E-AC6C-4527-F263-FB305130D00E}"/>
              </a:ext>
            </a:extLst>
          </p:cNvPr>
          <p:cNvSpPr/>
          <p:nvPr/>
        </p:nvSpPr>
        <p:spPr>
          <a:xfrm>
            <a:off x="4089772" y="4627808"/>
            <a:ext cx="223234" cy="220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D0A759-F11C-F188-F45F-1F2E1070393A}"/>
              </a:ext>
            </a:extLst>
          </p:cNvPr>
          <p:cNvSpPr/>
          <p:nvPr/>
        </p:nvSpPr>
        <p:spPr>
          <a:xfrm>
            <a:off x="3558862" y="4969098"/>
            <a:ext cx="223234" cy="220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B8D4C20-DBFC-2CE7-C244-336FBFBDE23A}"/>
              </a:ext>
            </a:extLst>
          </p:cNvPr>
          <p:cNvSpPr/>
          <p:nvPr/>
        </p:nvSpPr>
        <p:spPr>
          <a:xfrm>
            <a:off x="3822879" y="4969098"/>
            <a:ext cx="223234" cy="2204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66E9B6A-424D-39F1-23BD-B49CEC292D4B}"/>
              </a:ext>
            </a:extLst>
          </p:cNvPr>
          <p:cNvSpPr/>
          <p:nvPr/>
        </p:nvSpPr>
        <p:spPr>
          <a:xfrm>
            <a:off x="4089772" y="4969098"/>
            <a:ext cx="223234" cy="220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A35B47-4C84-373A-22FE-D6AF1F11D8E5}"/>
              </a:ext>
            </a:extLst>
          </p:cNvPr>
          <p:cNvSpPr/>
          <p:nvPr/>
        </p:nvSpPr>
        <p:spPr>
          <a:xfrm>
            <a:off x="3558862" y="5310388"/>
            <a:ext cx="223234" cy="220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C52839C-783B-CE64-5B62-EE2808352A96}"/>
              </a:ext>
            </a:extLst>
          </p:cNvPr>
          <p:cNvSpPr/>
          <p:nvPr/>
        </p:nvSpPr>
        <p:spPr>
          <a:xfrm>
            <a:off x="3822879" y="5310388"/>
            <a:ext cx="223234" cy="2204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1D8463F-A994-FB23-10E8-292197D553DF}"/>
              </a:ext>
            </a:extLst>
          </p:cNvPr>
          <p:cNvSpPr/>
          <p:nvPr/>
        </p:nvSpPr>
        <p:spPr>
          <a:xfrm>
            <a:off x="4089772" y="5310388"/>
            <a:ext cx="223234" cy="220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853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63673" y="81644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</a:t>
            </a:r>
            <a:r>
              <a:rPr lang="en-US" sz="3600" b="1" dirty="0" err="1"/>
              <a:t>Input/Output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7003" y="745812"/>
            <a:ext cx="900999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2: Reading digital input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Open example: </a:t>
            </a:r>
            <a:r>
              <a:rPr lang="en-US" sz="2200" i="1" dirty="0"/>
              <a:t>File </a:t>
            </a:r>
            <a:r>
              <a:rPr lang="en-US" sz="2200" i="1" dirty="0">
                <a:sym typeface="Wingdings" panose="05000000000000000000" pitchFamily="2" charset="2"/>
              </a:rPr>
              <a:t> Examples  01. Basics  </a:t>
            </a:r>
            <a:r>
              <a:rPr lang="en-US" sz="2200" i="1" dirty="0" err="1">
                <a:sym typeface="Wingdings" panose="05000000000000000000" pitchFamily="2" charset="2"/>
              </a:rPr>
              <a:t>DigitalReadSerial</a:t>
            </a:r>
            <a:endParaRPr lang="en-US" sz="2200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Change </a:t>
            </a:r>
            <a:r>
              <a:rPr lang="en-US" sz="2200" b="1" i="1" dirty="0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int </a:t>
            </a:r>
            <a:r>
              <a:rPr lang="en-US" sz="2200" b="1" i="1" dirty="0" err="1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pushButton</a:t>
            </a:r>
            <a:r>
              <a:rPr lang="en-US" sz="2200" b="1" i="1" dirty="0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= 2 </a:t>
            </a:r>
            <a:r>
              <a:rPr lang="en-US" sz="2200" dirty="0">
                <a:sym typeface="Wingdings" panose="05000000000000000000" pitchFamily="2" charset="2"/>
              </a:rPr>
              <a:t>to 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int </a:t>
            </a:r>
            <a:r>
              <a:rPr lang="en-US" sz="2200" b="1" i="1" dirty="0" err="1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pushButton</a:t>
            </a:r>
            <a:r>
              <a:rPr lang="en-US" sz="2200" b="1" i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 = 19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Change delay value in </a:t>
            </a:r>
            <a:r>
              <a:rPr lang="en-US" sz="2200" b="1" i="1" dirty="0">
                <a:solidFill>
                  <a:srgbClr val="FF0000"/>
                </a:solidFill>
                <a:sym typeface="Wingdings" panose="05000000000000000000" pitchFamily="2" charset="2"/>
              </a:rPr>
              <a:t>delay(1)</a:t>
            </a:r>
            <a:r>
              <a:rPr lang="en-US" sz="2200" dirty="0">
                <a:sym typeface="Wingdings" panose="05000000000000000000" pitchFamily="2" charset="2"/>
              </a:rPr>
              <a:t> to </a:t>
            </a:r>
            <a:r>
              <a:rPr lang="en-US" sz="2200" b="1" i="1" dirty="0">
                <a:solidFill>
                  <a:srgbClr val="FF0000"/>
                </a:solidFill>
                <a:sym typeface="Wingdings" panose="05000000000000000000" pitchFamily="2" charset="2"/>
              </a:rPr>
              <a:t>delay(10)</a:t>
            </a:r>
            <a:endParaRPr lang="en-US" sz="2200" b="1" i="1" dirty="0">
              <a:solidFill>
                <a:srgbClr val="FF0000"/>
              </a:solidFill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DC5B6AE-79EB-2611-DECF-7E13A9627511}"/>
              </a:ext>
            </a:extLst>
          </p:cNvPr>
          <p:cNvGrpSpPr/>
          <p:nvPr/>
        </p:nvGrpSpPr>
        <p:grpSpPr>
          <a:xfrm>
            <a:off x="3214847" y="3038350"/>
            <a:ext cx="5682395" cy="3440271"/>
            <a:chOff x="1815342" y="2931026"/>
            <a:chExt cx="5682395" cy="344027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F270F45-3DD6-92BC-463E-39A0BB1ACAA2}"/>
                </a:ext>
              </a:extLst>
            </p:cNvPr>
            <p:cNvSpPr/>
            <p:nvPr/>
          </p:nvSpPr>
          <p:spPr>
            <a:xfrm>
              <a:off x="3574807" y="3271046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FCC6995-E6C8-AE8A-870A-D95B97C1F7C1}"/>
                </a:ext>
              </a:extLst>
            </p:cNvPr>
            <p:cNvSpPr txBox="1"/>
            <p:nvPr/>
          </p:nvSpPr>
          <p:spPr>
            <a:xfrm>
              <a:off x="3958124" y="2931026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34D3C84-541C-4042-EE4B-8EE4E792AF14}"/>
                </a:ext>
              </a:extLst>
            </p:cNvPr>
            <p:cNvGrpSpPr/>
            <p:nvPr/>
          </p:nvGrpSpPr>
          <p:grpSpPr>
            <a:xfrm>
              <a:off x="5055264" y="3115692"/>
              <a:ext cx="2010945" cy="476742"/>
              <a:chOff x="6781033" y="1723520"/>
              <a:chExt cx="2010945" cy="476742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5A0201E-4F50-2404-803A-289F998A82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9" name="Picture 1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D1AF1CF1-39CB-80BB-7D11-DADBF572D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27" name="Picture 26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2B17741-8939-062E-B800-88397236CB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ADD4DE6-E396-F584-0EFE-B89853755F71}"/>
                </a:ext>
              </a:extLst>
            </p:cNvPr>
            <p:cNvGrpSpPr/>
            <p:nvPr/>
          </p:nvGrpSpPr>
          <p:grpSpPr>
            <a:xfrm>
              <a:off x="5055264" y="3592434"/>
              <a:ext cx="2010945" cy="476742"/>
              <a:chOff x="6781033" y="1723520"/>
              <a:chExt cx="2010945" cy="476742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7CBE833-9336-3C70-D929-60D551494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1" name="Picture 30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872960E-7566-CD9B-252E-1C8317C3BE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32" name="Picture 31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7B597A25-B633-27AA-063D-9B849AAE09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1290164-32F5-D662-A832-750E2D4E30D9}"/>
                </a:ext>
              </a:extLst>
            </p:cNvPr>
            <p:cNvGrpSpPr/>
            <p:nvPr/>
          </p:nvGrpSpPr>
          <p:grpSpPr>
            <a:xfrm>
              <a:off x="5055264" y="4045685"/>
              <a:ext cx="2010945" cy="476742"/>
              <a:chOff x="6781033" y="1723520"/>
              <a:chExt cx="2010945" cy="476742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BD04097F-D837-9CA3-105F-F1351D5C13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5" name="Picture 3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EE4D0BF0-420D-47C2-E0E8-4C6FB2A646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36" name="Picture 35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2F36757-98D0-7EFB-76B1-49C61A843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DD2499-84C7-E21E-0B3C-1A279AA35C0F}"/>
                </a:ext>
              </a:extLst>
            </p:cNvPr>
            <p:cNvCxnSpPr>
              <a:cxnSpLocks/>
            </p:cNvCxnSpPr>
            <p:nvPr/>
          </p:nvCxnSpPr>
          <p:spPr>
            <a:xfrm>
              <a:off x="7036158" y="3455712"/>
              <a:ext cx="0" cy="1224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536A91-C25B-FDCF-A403-2DCDBC8E41D9}"/>
                </a:ext>
              </a:extLst>
            </p:cNvPr>
            <p:cNvGrpSpPr/>
            <p:nvPr/>
          </p:nvGrpSpPr>
          <p:grpSpPr>
            <a:xfrm>
              <a:off x="6954592" y="4580550"/>
              <a:ext cx="543145" cy="246221"/>
              <a:chOff x="8680361" y="3188378"/>
              <a:chExt cx="543145" cy="246221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6870FA4-7278-E023-91C5-20966524EF65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45C753A-8F0C-13D2-CB99-884BB03B4078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43152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GND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BCA172A-CB2D-CE1F-7438-53C521ED51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20B6351-41B5-7F30-F6C9-8276A494AB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9583577-E468-374A-6D5E-914C7EDA290F}"/>
                </a:ext>
              </a:extLst>
            </p:cNvPr>
            <p:cNvSpPr/>
            <p:nvPr/>
          </p:nvSpPr>
          <p:spPr>
            <a:xfrm>
              <a:off x="6992689" y="3885044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0650347-8F0D-0ABE-93CB-7C7E527A3DC8}"/>
                </a:ext>
              </a:extLst>
            </p:cNvPr>
            <p:cNvSpPr/>
            <p:nvPr/>
          </p:nvSpPr>
          <p:spPr>
            <a:xfrm>
              <a:off x="6987857" y="3410590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C208889-42F1-0697-67EE-26D3507B71CB}"/>
                </a:ext>
              </a:extLst>
            </p:cNvPr>
            <p:cNvSpPr/>
            <p:nvPr/>
          </p:nvSpPr>
          <p:spPr>
            <a:xfrm>
              <a:off x="6992689" y="4330610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4DCF5502-39BA-9DCF-9726-0388864C626D}"/>
                </a:ext>
              </a:extLst>
            </p:cNvPr>
            <p:cNvSpPr/>
            <p:nvPr/>
          </p:nvSpPr>
          <p:spPr>
            <a:xfrm rot="5400000">
              <a:off x="6577793" y="3365895"/>
              <a:ext cx="247014" cy="20606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Isosceles Triangle 49">
              <a:extLst>
                <a:ext uri="{FF2B5EF4-FFF2-40B4-BE49-F238E27FC236}">
                  <a16:creationId xmlns:a16="http://schemas.microsoft.com/office/drawing/2014/main" id="{CBE439F0-338F-34EC-144F-1BF23DCBEDB5}"/>
                </a:ext>
              </a:extLst>
            </p:cNvPr>
            <p:cNvSpPr/>
            <p:nvPr/>
          </p:nvSpPr>
          <p:spPr>
            <a:xfrm rot="5400000">
              <a:off x="6577793" y="3833010"/>
              <a:ext cx="247014" cy="206064"/>
            </a:xfrm>
            <a:prstGeom prst="triangl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D62ECB15-CAAF-55CF-BA4D-03AF179F75D0}"/>
                </a:ext>
              </a:extLst>
            </p:cNvPr>
            <p:cNvSpPr/>
            <p:nvPr/>
          </p:nvSpPr>
          <p:spPr>
            <a:xfrm rot="5400000">
              <a:off x="6577793" y="4282673"/>
              <a:ext cx="247014" cy="206064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E265F21-22AD-5827-1298-D30C720EB2A5}"/>
                </a:ext>
              </a:extLst>
            </p:cNvPr>
            <p:cNvSpPr txBox="1"/>
            <p:nvPr/>
          </p:nvSpPr>
          <p:spPr>
            <a:xfrm>
              <a:off x="4688922" y="3325511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A7AB351-9536-04DB-835E-C8C42CE30D5D}"/>
                </a:ext>
              </a:extLst>
            </p:cNvPr>
            <p:cNvSpPr txBox="1"/>
            <p:nvPr/>
          </p:nvSpPr>
          <p:spPr>
            <a:xfrm>
              <a:off x="4698313" y="3799668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A2B910-E45E-56C2-DEF4-D7440349A763}"/>
                </a:ext>
              </a:extLst>
            </p:cNvPr>
            <p:cNvSpPr txBox="1"/>
            <p:nvPr/>
          </p:nvSpPr>
          <p:spPr>
            <a:xfrm>
              <a:off x="4698119" y="4262198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D21</a:t>
              </a:r>
            </a:p>
          </p:txBody>
        </p:sp>
        <p:pic>
          <p:nvPicPr>
            <p:cNvPr id="55" name="Picture 54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186345F0-EDFD-021E-E457-A9F44E3A6E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rcRect b="43436"/>
            <a:stretch/>
          </p:blipFill>
          <p:spPr>
            <a:xfrm rot="16200000" flipH="1">
              <a:off x="2411436" y="3888132"/>
              <a:ext cx="611557" cy="279042"/>
            </a:xfrm>
            <a:prstGeom prst="rect">
              <a:avLst/>
            </a:prstGeom>
          </p:spPr>
        </p:pic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05215AF-F1A8-2801-6655-6F030E5639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4028" y="4330610"/>
              <a:ext cx="79077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BDCADBA-0A8E-E323-D118-FF4D5D277AE1}"/>
                </a:ext>
              </a:extLst>
            </p:cNvPr>
            <p:cNvSpPr/>
            <p:nvPr/>
          </p:nvSpPr>
          <p:spPr>
            <a:xfrm>
              <a:off x="2752366" y="4291172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9EF3F34-C68C-FB2F-FC5B-8897FC89A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3808" y="3466178"/>
              <a:ext cx="80099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DD78855-CE14-FFD3-299E-7415CC1B11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6892" y="3455666"/>
              <a:ext cx="1429" cy="2705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0344452-2294-5DD7-5766-BCBAA4054649}"/>
                </a:ext>
              </a:extLst>
            </p:cNvPr>
            <p:cNvSpPr txBox="1"/>
            <p:nvPr/>
          </p:nvSpPr>
          <p:spPr>
            <a:xfrm>
              <a:off x="3544757" y="3317008"/>
              <a:ext cx="2904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V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0408830-CC6F-687B-7A63-28EDDC71BA0A}"/>
                </a:ext>
              </a:extLst>
            </p:cNvPr>
            <p:cNvSpPr txBox="1"/>
            <p:nvPr/>
          </p:nvSpPr>
          <p:spPr>
            <a:xfrm>
              <a:off x="3514537" y="4192211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D19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3816944-D94F-B277-A63D-67B1B3C4FDB8}"/>
                </a:ext>
              </a:extLst>
            </p:cNvPr>
            <p:cNvSpPr txBox="1"/>
            <p:nvPr/>
          </p:nvSpPr>
          <p:spPr>
            <a:xfrm>
              <a:off x="1815342" y="3808341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Push-button</a:t>
              </a:r>
            </a:p>
            <a:p>
              <a:r>
                <a:rPr lang="en-US" sz="900" dirty="0"/>
                <a:t>            Switch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581A906-956A-2A51-97D6-9DFB37BEEA90}"/>
                </a:ext>
              </a:extLst>
            </p:cNvPr>
            <p:cNvSpPr txBox="1"/>
            <p:nvPr/>
          </p:nvSpPr>
          <p:spPr>
            <a:xfrm>
              <a:off x="5671390" y="3184942"/>
              <a:ext cx="68961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620 Ohm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D84B440-483A-B335-225D-763B88465B6E}"/>
                </a:ext>
              </a:extLst>
            </p:cNvPr>
            <p:cNvSpPr txBox="1"/>
            <p:nvPr/>
          </p:nvSpPr>
          <p:spPr>
            <a:xfrm>
              <a:off x="5650572" y="3656825"/>
              <a:ext cx="68961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620 Ohm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5A58E38-568E-7DC1-0749-E64B45EBEC02}"/>
                </a:ext>
              </a:extLst>
            </p:cNvPr>
            <p:cNvSpPr txBox="1"/>
            <p:nvPr/>
          </p:nvSpPr>
          <p:spPr>
            <a:xfrm>
              <a:off x="5650572" y="4099872"/>
              <a:ext cx="68961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620 Ohm</a:t>
              </a:r>
            </a:p>
          </p:txBody>
        </p:sp>
        <p:pic>
          <p:nvPicPr>
            <p:cNvPr id="66" name="Picture 6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65F12F4-558C-5091-4366-F7FFE4988A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 l="19824" t="1" r="18873" b="-3"/>
            <a:stretch/>
          </p:blipFill>
          <p:spPr>
            <a:xfrm rot="16200000">
              <a:off x="2445420" y="4522601"/>
              <a:ext cx="695460" cy="249773"/>
            </a:xfrm>
            <a:prstGeom prst="rect">
              <a:avLst/>
            </a:prstGeom>
          </p:spPr>
        </p:pic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0B90F60-DAEB-7165-8E98-FAEB51CA6D45}"/>
                </a:ext>
              </a:extLst>
            </p:cNvPr>
            <p:cNvGrpSpPr/>
            <p:nvPr/>
          </p:nvGrpSpPr>
          <p:grpSpPr>
            <a:xfrm>
              <a:off x="2715962" y="4895190"/>
              <a:ext cx="543145" cy="246221"/>
              <a:chOff x="8680361" y="3188378"/>
              <a:chExt cx="543145" cy="246221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8258020D-06AE-A063-7580-5213ABE4C77F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106736A-33B8-7595-FBB3-6D2219382078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43152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/>
                  <a:t>GND</a:t>
                </a: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88B4EDA2-903D-9663-E31F-C18BDC0241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F982DB2-9C6B-5F6A-D5D8-214B34E40C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73" name="Picture 72">
            <a:extLst>
              <a:ext uri="{FF2B5EF4-FFF2-40B4-BE49-F238E27FC236}">
                <a16:creationId xmlns:a16="http://schemas.microsoft.com/office/drawing/2014/main" id="{FCB8D727-2AC5-9D2C-2E17-11171AB9791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7652"/>
          <a:stretch/>
        </p:blipFill>
        <p:spPr>
          <a:xfrm>
            <a:off x="212902" y="4623135"/>
            <a:ext cx="3001195" cy="1855486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960EB62-5940-85C7-5706-AB33B5818D14}"/>
              </a:ext>
            </a:extLst>
          </p:cNvPr>
          <p:cNvCxnSpPr>
            <a:cxnSpLocks/>
          </p:cNvCxnSpPr>
          <p:nvPr/>
        </p:nvCxnSpPr>
        <p:spPr>
          <a:xfrm flipH="1">
            <a:off x="2530571" y="4407081"/>
            <a:ext cx="1436599" cy="73624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2FE438C-AE1D-6288-E656-6EAF025E836F}"/>
              </a:ext>
            </a:extLst>
          </p:cNvPr>
          <p:cNvSpPr txBox="1"/>
          <p:nvPr/>
        </p:nvSpPr>
        <p:spPr>
          <a:xfrm>
            <a:off x="4288920" y="4625427"/>
            <a:ext cx="6992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10K Ohm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082C036F-EA6E-D00E-692B-619F1941EB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9102033">
            <a:off x="1163513" y="2872795"/>
            <a:ext cx="1498016" cy="1346774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CAC8B728-92B1-0A83-9D83-FC6B51EF32EC}"/>
              </a:ext>
            </a:extLst>
          </p:cNvPr>
          <p:cNvSpPr txBox="1"/>
          <p:nvPr/>
        </p:nvSpPr>
        <p:spPr>
          <a:xfrm>
            <a:off x="1431956" y="3083876"/>
            <a:ext cx="6992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/>
              <a:t>10K Ohm</a:t>
            </a:r>
          </a:p>
        </p:txBody>
      </p:sp>
    </p:spTree>
    <p:extLst>
      <p:ext uri="{BB962C8B-B14F-4D97-AF65-F5344CB8AC3E}">
        <p14:creationId xmlns:p14="http://schemas.microsoft.com/office/powerpoint/2010/main" val="4123166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63673" y="81644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</a:t>
            </a:r>
            <a:r>
              <a:rPr lang="en-US" sz="3600" b="1" dirty="0" err="1"/>
              <a:t>Input/Output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06197" y="679698"/>
            <a:ext cx="797242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Exercise 3</a:t>
            </a:r>
            <a:r>
              <a:rPr lang="en-US" sz="2400" dirty="0"/>
              <a:t> : Combine input &amp; output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LED is </a:t>
            </a:r>
            <a:r>
              <a:rPr lang="en-US" sz="2200" b="1" dirty="0">
                <a:solidFill>
                  <a:srgbClr val="00B050"/>
                </a:solidFill>
                <a:sym typeface="Wingdings" panose="05000000000000000000" pitchFamily="2" charset="2"/>
              </a:rPr>
              <a:t>on</a:t>
            </a:r>
            <a:r>
              <a:rPr lang="en-US" sz="2200" dirty="0">
                <a:sym typeface="Wingdings" panose="05000000000000000000" pitchFamily="2" charset="2"/>
              </a:rPr>
              <a:t> when </a:t>
            </a:r>
            <a:r>
              <a:rPr lang="en-US" sz="2200" u="sng" dirty="0">
                <a:sym typeface="Wingdings" panose="05000000000000000000" pitchFamily="2" charset="2"/>
              </a:rPr>
              <a:t>button is pressed </a:t>
            </a:r>
            <a:r>
              <a:rPr lang="en-US" sz="2200" dirty="0">
                <a:sym typeface="Wingdings" panose="05000000000000000000" pitchFamily="2" charset="2"/>
              </a:rPr>
              <a:t>and </a:t>
            </a:r>
            <a:r>
              <a:rPr lang="en-US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off</a:t>
            </a:r>
            <a:r>
              <a:rPr lang="en-US" sz="2200" dirty="0">
                <a:sym typeface="Wingdings" panose="05000000000000000000" pitchFamily="2" charset="2"/>
              </a:rPr>
              <a:t> when </a:t>
            </a:r>
            <a:r>
              <a:rPr lang="en-US" sz="2200" u="sng" dirty="0">
                <a:sym typeface="Wingdings" panose="05000000000000000000" pitchFamily="2" charset="2"/>
              </a:rPr>
              <a:t>button is released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LED if </a:t>
            </a:r>
            <a:r>
              <a:rPr lang="en-US" sz="2200" b="1" dirty="0">
                <a:solidFill>
                  <a:srgbClr val="FF0000"/>
                </a:solidFill>
                <a:sym typeface="Wingdings" panose="05000000000000000000" pitchFamily="2" charset="2"/>
              </a:rPr>
              <a:t>off</a:t>
            </a:r>
            <a:r>
              <a:rPr lang="en-US" sz="2200" dirty="0">
                <a:sym typeface="Wingdings" panose="05000000000000000000" pitchFamily="2" charset="2"/>
              </a:rPr>
              <a:t> when </a:t>
            </a:r>
            <a:r>
              <a:rPr lang="en-US" sz="2200" u="sng" dirty="0">
                <a:sym typeface="Wingdings" panose="05000000000000000000" pitchFamily="2" charset="2"/>
              </a:rPr>
              <a:t>button is pressed </a:t>
            </a:r>
            <a:r>
              <a:rPr lang="en-US" sz="2200" dirty="0">
                <a:sym typeface="Wingdings" panose="05000000000000000000" pitchFamily="2" charset="2"/>
              </a:rPr>
              <a:t>and </a:t>
            </a:r>
            <a:r>
              <a:rPr lang="en-US" sz="2200" b="1" dirty="0">
                <a:solidFill>
                  <a:srgbClr val="00B050"/>
                </a:solidFill>
                <a:sym typeface="Wingdings" panose="05000000000000000000" pitchFamily="2" charset="2"/>
              </a:rPr>
              <a:t>on</a:t>
            </a:r>
            <a:r>
              <a:rPr lang="en-US" sz="2200" dirty="0">
                <a:sym typeface="Wingdings" panose="05000000000000000000" pitchFamily="2" charset="2"/>
              </a:rPr>
              <a:t> when </a:t>
            </a:r>
            <a:r>
              <a:rPr lang="en-US" sz="2200" u="sng" dirty="0">
                <a:sym typeface="Wingdings" panose="05000000000000000000" pitchFamily="2" charset="2"/>
              </a:rPr>
              <a:t>button is released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LED blinks </a:t>
            </a:r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5 times </a:t>
            </a:r>
            <a:r>
              <a:rPr lang="en-US" sz="2200" dirty="0">
                <a:sym typeface="Wingdings" panose="05000000000000000000" pitchFamily="2" charset="2"/>
              </a:rPr>
              <a:t>when </a:t>
            </a:r>
            <a:r>
              <a:rPr lang="en-US" sz="2200" u="sng" dirty="0">
                <a:sym typeface="Wingdings" panose="05000000000000000000" pitchFamily="2" charset="2"/>
              </a:rPr>
              <a:t>button is pressed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1" dirty="0">
                <a:sym typeface="Wingdings" panose="05000000000000000000" pitchFamily="2" charset="2"/>
              </a:rPr>
              <a:t>Reverse</a:t>
            </a:r>
            <a:r>
              <a:rPr lang="en-US" sz="2200" dirty="0">
                <a:sym typeface="Wingdings" panose="05000000000000000000" pitchFamily="2" charset="2"/>
              </a:rPr>
              <a:t> chasing direction when </a:t>
            </a:r>
            <a:r>
              <a:rPr lang="en-US" sz="2200" u="sng" dirty="0">
                <a:sym typeface="Wingdings" panose="05000000000000000000" pitchFamily="2" charset="2"/>
              </a:rPr>
              <a:t>button is pressed</a:t>
            </a:r>
            <a:endParaRPr lang="en-US" sz="2200" u="sng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7E69CC4-F2ED-FE0A-A669-832E2F4DCD34}"/>
              </a:ext>
            </a:extLst>
          </p:cNvPr>
          <p:cNvGrpSpPr/>
          <p:nvPr/>
        </p:nvGrpSpPr>
        <p:grpSpPr>
          <a:xfrm>
            <a:off x="1828222" y="3124411"/>
            <a:ext cx="5682395" cy="3440271"/>
            <a:chOff x="3214847" y="3038350"/>
            <a:chExt cx="5682395" cy="344027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F8AB7B7-C4BA-3ADC-9F6D-413D71ED71A6}"/>
                </a:ext>
              </a:extLst>
            </p:cNvPr>
            <p:cNvGrpSpPr/>
            <p:nvPr/>
          </p:nvGrpSpPr>
          <p:grpSpPr>
            <a:xfrm>
              <a:off x="3214847" y="3038350"/>
              <a:ext cx="5682395" cy="3440271"/>
              <a:chOff x="1815342" y="2931026"/>
              <a:chExt cx="5682395" cy="344027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7E95E7-8E48-2005-20F8-4C2CD2E21C2C}"/>
                  </a:ext>
                </a:extLst>
              </p:cNvPr>
              <p:cNvSpPr/>
              <p:nvPr/>
            </p:nvSpPr>
            <p:spPr>
              <a:xfrm>
                <a:off x="3574807" y="3271046"/>
                <a:ext cx="1480457" cy="310025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E7FFFC-D035-C5D1-1480-C7CC59F93C44}"/>
                  </a:ext>
                </a:extLst>
              </p:cNvPr>
              <p:cNvSpPr txBox="1"/>
              <p:nvPr/>
            </p:nvSpPr>
            <p:spPr>
              <a:xfrm>
                <a:off x="3958124" y="2931026"/>
                <a:ext cx="8226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ESP32</a:t>
                </a: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239173C-36C1-1AC8-7A1A-5708465D6CB7}"/>
                  </a:ext>
                </a:extLst>
              </p:cNvPr>
              <p:cNvGrpSpPr/>
              <p:nvPr/>
            </p:nvGrpSpPr>
            <p:grpSpPr>
              <a:xfrm>
                <a:off x="5055264" y="3115692"/>
                <a:ext cx="2010945" cy="476742"/>
                <a:chOff x="6781033" y="1723520"/>
                <a:chExt cx="2010945" cy="476742"/>
              </a:xfrm>
            </p:grpSpPr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145B79D7-26E2-FB70-3219-660DA0B5C7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81033" y="2063540"/>
                  <a:ext cx="555632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83" name="Picture 82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93792513-46CD-C1AB-F6EC-2FAA8C1E43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4736" y="1974770"/>
                  <a:ext cx="1232079" cy="177540"/>
                </a:xfrm>
                <a:prstGeom prst="rect">
                  <a:avLst/>
                </a:prstGeom>
              </p:spPr>
            </p:pic>
            <p:pic>
              <p:nvPicPr>
                <p:cNvPr id="84" name="Picture 83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A62F43D1-E608-F85F-9BF6-90F4C24115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80754" y="1723520"/>
                  <a:ext cx="711224" cy="476742"/>
                </a:xfrm>
                <a:prstGeom prst="rect">
                  <a:avLst/>
                </a:prstGeom>
              </p:spPr>
            </p:pic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3E1EAB4-0E1E-EC99-D995-17F462B3B719}"/>
                  </a:ext>
                </a:extLst>
              </p:cNvPr>
              <p:cNvGrpSpPr/>
              <p:nvPr/>
            </p:nvGrpSpPr>
            <p:grpSpPr>
              <a:xfrm>
                <a:off x="5055264" y="3592434"/>
                <a:ext cx="2010945" cy="476742"/>
                <a:chOff x="6781033" y="1723520"/>
                <a:chExt cx="2010945" cy="476742"/>
              </a:xfrm>
            </p:grpSpPr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BA711BD4-6B7A-A44D-AF29-8E9C1C0037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81033" y="2063540"/>
                  <a:ext cx="555632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80" name="Picture 79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AB5A1E12-C987-0D5C-4567-6154BE3865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4736" y="1974770"/>
                  <a:ext cx="1232079" cy="177540"/>
                </a:xfrm>
                <a:prstGeom prst="rect">
                  <a:avLst/>
                </a:prstGeom>
              </p:spPr>
            </p:pic>
            <p:pic>
              <p:nvPicPr>
                <p:cNvPr id="81" name="Picture 80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42AD8375-55E9-F24E-7CF8-2E279ADB67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80754" y="1723520"/>
                  <a:ext cx="711224" cy="476742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85A885EA-5830-4287-C376-276E3790F3FD}"/>
                  </a:ext>
                </a:extLst>
              </p:cNvPr>
              <p:cNvGrpSpPr/>
              <p:nvPr/>
            </p:nvGrpSpPr>
            <p:grpSpPr>
              <a:xfrm>
                <a:off x="5055264" y="4045685"/>
                <a:ext cx="2010945" cy="476742"/>
                <a:chOff x="6781033" y="1723520"/>
                <a:chExt cx="2010945" cy="476742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36E62E6C-AE93-AAC8-0049-9D3129C56E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81033" y="2063540"/>
                  <a:ext cx="555632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77" name="Picture 76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E38F22AF-9639-35E3-39B1-4AF7DFCD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4736" y="1974770"/>
                  <a:ext cx="1232079" cy="177540"/>
                </a:xfrm>
                <a:prstGeom prst="rect">
                  <a:avLst/>
                </a:prstGeom>
              </p:spPr>
            </p:pic>
            <p:pic>
              <p:nvPicPr>
                <p:cNvPr id="78" name="Picture 77" descr="A black background with a black squa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264B3BEC-7945-6FFA-BC0D-D7A9FCAEF6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080754" y="1723520"/>
                  <a:ext cx="711224" cy="476742"/>
                </a:xfrm>
                <a:prstGeom prst="rect">
                  <a:avLst/>
                </a:prstGeom>
              </p:spPr>
            </p:pic>
          </p:grp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006F53CA-31DE-E230-ED3E-F702F04E35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6158" y="3455712"/>
                <a:ext cx="0" cy="122486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D9303FB-645B-4187-222B-104B698F5AC0}"/>
                  </a:ext>
                </a:extLst>
              </p:cNvPr>
              <p:cNvGrpSpPr/>
              <p:nvPr/>
            </p:nvGrpSpPr>
            <p:grpSpPr>
              <a:xfrm>
                <a:off x="6954592" y="4580550"/>
                <a:ext cx="543145" cy="246221"/>
                <a:chOff x="8680361" y="3188378"/>
                <a:chExt cx="543145" cy="246221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919DCDC5-FB07-3154-BE68-E15B5E07089B}"/>
                    </a:ext>
                  </a:extLst>
                </p:cNvPr>
                <p:cNvCxnSpPr/>
                <p:nvPr/>
              </p:nvCxnSpPr>
              <p:spPr>
                <a:xfrm>
                  <a:off x="8680361" y="3288406"/>
                  <a:ext cx="1588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6A40100-5FC8-3809-71BB-20F9C92487CD}"/>
                    </a:ext>
                  </a:extLst>
                </p:cNvPr>
                <p:cNvSpPr txBox="1"/>
                <p:nvPr/>
              </p:nvSpPr>
              <p:spPr>
                <a:xfrm>
                  <a:off x="8791978" y="3188378"/>
                  <a:ext cx="43152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GND</a:t>
                  </a:r>
                </a:p>
              </p:txBody>
            </p: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274FE0C2-3056-0B04-28F6-E08FFAF5F3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7191" y="3329189"/>
                  <a:ext cx="10517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6D349C78-EA47-E14A-9959-9FFBFF9AEE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28655" y="3379847"/>
                  <a:ext cx="6117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84197F6-35B2-47DD-A5CA-105A4BC244DE}"/>
                  </a:ext>
                </a:extLst>
              </p:cNvPr>
              <p:cNvSpPr/>
              <p:nvPr/>
            </p:nvSpPr>
            <p:spPr>
              <a:xfrm>
                <a:off x="6992689" y="3885044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3248F2A-6649-7331-439C-07A6E8E1CF99}"/>
                  </a:ext>
                </a:extLst>
              </p:cNvPr>
              <p:cNvSpPr/>
              <p:nvPr/>
            </p:nvSpPr>
            <p:spPr>
              <a:xfrm>
                <a:off x="6987857" y="3410590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821236B-49CB-241C-C1B7-8A4F3146D9F0}"/>
                  </a:ext>
                </a:extLst>
              </p:cNvPr>
              <p:cNvSpPr/>
              <p:nvPr/>
            </p:nvSpPr>
            <p:spPr>
              <a:xfrm>
                <a:off x="6992689" y="4330610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Isosceles Triangle 14">
                <a:extLst>
                  <a:ext uri="{FF2B5EF4-FFF2-40B4-BE49-F238E27FC236}">
                    <a16:creationId xmlns:a16="http://schemas.microsoft.com/office/drawing/2014/main" id="{5C0AA5B9-8430-1EF1-CFE5-5878379876B4}"/>
                  </a:ext>
                </a:extLst>
              </p:cNvPr>
              <p:cNvSpPr/>
              <p:nvPr/>
            </p:nvSpPr>
            <p:spPr>
              <a:xfrm rot="5400000">
                <a:off x="6577793" y="3365895"/>
                <a:ext cx="247014" cy="206064"/>
              </a:xfrm>
              <a:prstGeom prst="triangl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Isosceles Triangle 15">
                <a:extLst>
                  <a:ext uri="{FF2B5EF4-FFF2-40B4-BE49-F238E27FC236}">
                    <a16:creationId xmlns:a16="http://schemas.microsoft.com/office/drawing/2014/main" id="{9BFEA073-D681-DC4D-C502-81DFF28693B2}"/>
                  </a:ext>
                </a:extLst>
              </p:cNvPr>
              <p:cNvSpPr/>
              <p:nvPr/>
            </p:nvSpPr>
            <p:spPr>
              <a:xfrm rot="5400000">
                <a:off x="6577793" y="3833010"/>
                <a:ext cx="247014" cy="206064"/>
              </a:xfrm>
              <a:prstGeom prst="triangl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D8766655-8C92-88B6-C4A1-A4F7F72AC474}"/>
                  </a:ext>
                </a:extLst>
              </p:cNvPr>
              <p:cNvSpPr/>
              <p:nvPr/>
            </p:nvSpPr>
            <p:spPr>
              <a:xfrm rot="5400000">
                <a:off x="6577793" y="4282673"/>
                <a:ext cx="247014" cy="206064"/>
              </a:xfrm>
              <a:prstGeom prst="triangl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141698-E07B-EE82-7D83-7F54DC8C0AB1}"/>
                  </a:ext>
                </a:extLst>
              </p:cNvPr>
              <p:cNvSpPr txBox="1"/>
              <p:nvPr/>
            </p:nvSpPr>
            <p:spPr>
              <a:xfrm>
                <a:off x="4688922" y="3325511"/>
                <a:ext cx="4154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D23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8ABB85-C6FA-F6BE-00B9-E198AF7DD203}"/>
                  </a:ext>
                </a:extLst>
              </p:cNvPr>
              <p:cNvSpPr txBox="1"/>
              <p:nvPr/>
            </p:nvSpPr>
            <p:spPr>
              <a:xfrm>
                <a:off x="4698313" y="3799668"/>
                <a:ext cx="4154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D22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35A911-8CAB-3B1A-26F2-237458CBD2C5}"/>
                  </a:ext>
                </a:extLst>
              </p:cNvPr>
              <p:cNvSpPr txBox="1"/>
              <p:nvPr/>
            </p:nvSpPr>
            <p:spPr>
              <a:xfrm>
                <a:off x="4698119" y="4262198"/>
                <a:ext cx="4154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D21</a:t>
                </a:r>
              </a:p>
            </p:txBody>
          </p:sp>
          <p:pic>
            <p:nvPicPr>
              <p:cNvPr id="21" name="Picture 20" descr="A black and white symbol&#10;&#10;Description automatically generated">
                <a:extLst>
                  <a:ext uri="{FF2B5EF4-FFF2-40B4-BE49-F238E27FC236}">
                    <a16:creationId xmlns:a16="http://schemas.microsoft.com/office/drawing/2014/main" id="{00F4AF01-467E-8F2D-3029-2D9C0B7184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7"/>
                  </a:ext>
                </a:extLst>
              </a:blip>
              <a:srcRect b="43436"/>
              <a:stretch/>
            </p:blipFill>
            <p:spPr>
              <a:xfrm rot="16200000" flipH="1">
                <a:off x="2411436" y="3888132"/>
                <a:ext cx="611557" cy="279042"/>
              </a:xfrm>
              <a:prstGeom prst="rect">
                <a:avLst/>
              </a:prstGeom>
            </p:spPr>
          </p:pic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F6A7440-1691-457C-DFB5-9AAB6EBF0D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84028" y="4330610"/>
                <a:ext cx="79077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BE34110-D31A-474E-087E-122627BEAD7D}"/>
                  </a:ext>
                </a:extLst>
              </p:cNvPr>
              <p:cNvSpPr/>
              <p:nvPr/>
            </p:nvSpPr>
            <p:spPr>
              <a:xfrm>
                <a:off x="2752366" y="4291172"/>
                <a:ext cx="81567" cy="8156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F73054D-817C-C817-B30B-5DBBDFEC46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73808" y="3466178"/>
                <a:ext cx="80099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5E31710-31F3-CA11-79CA-9887EF487F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86892" y="3455666"/>
                <a:ext cx="1429" cy="27050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EB5E93-4F1B-0681-1C95-8D4AFFCBFA56}"/>
                  </a:ext>
                </a:extLst>
              </p:cNvPr>
              <p:cNvSpPr txBox="1"/>
              <p:nvPr/>
            </p:nvSpPr>
            <p:spPr>
              <a:xfrm>
                <a:off x="3544757" y="3317008"/>
                <a:ext cx="29046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srgbClr val="FF0000"/>
                    </a:solidFill>
                  </a:rPr>
                  <a:t>V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D3BB722-806D-2CA0-5565-F3E27FF2C751}"/>
                  </a:ext>
                </a:extLst>
              </p:cNvPr>
              <p:cNvSpPr txBox="1"/>
              <p:nvPr/>
            </p:nvSpPr>
            <p:spPr>
              <a:xfrm>
                <a:off x="3514537" y="4192211"/>
                <a:ext cx="4154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/>
                  <a:t>D19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B767B4E-B856-45ED-B9D4-8F8750785B08}"/>
                  </a:ext>
                </a:extLst>
              </p:cNvPr>
              <p:cNvSpPr txBox="1"/>
              <p:nvPr/>
            </p:nvSpPr>
            <p:spPr>
              <a:xfrm>
                <a:off x="1815342" y="3808341"/>
                <a:ext cx="8066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 dirty="0"/>
                  <a:t>Push-button</a:t>
                </a:r>
              </a:p>
              <a:p>
                <a:r>
                  <a:rPr lang="en-US" sz="900" dirty="0"/>
                  <a:t>            Switch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3ED703-C69E-5D2E-B3B7-21B4247465EA}"/>
                  </a:ext>
                </a:extLst>
              </p:cNvPr>
              <p:cNvSpPr txBox="1"/>
              <p:nvPr/>
            </p:nvSpPr>
            <p:spPr>
              <a:xfrm>
                <a:off x="5671390" y="3184942"/>
                <a:ext cx="68961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620 Ohm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07E100-30BA-DB07-EFB3-15A7E7A476BA}"/>
                  </a:ext>
                </a:extLst>
              </p:cNvPr>
              <p:cNvSpPr txBox="1"/>
              <p:nvPr/>
            </p:nvSpPr>
            <p:spPr>
              <a:xfrm>
                <a:off x="5650572" y="3656825"/>
                <a:ext cx="68961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620 Ohm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A8AE98A-A6B0-ADC8-75B7-4C933D912E47}"/>
                  </a:ext>
                </a:extLst>
              </p:cNvPr>
              <p:cNvSpPr txBox="1"/>
              <p:nvPr/>
            </p:nvSpPr>
            <p:spPr>
              <a:xfrm>
                <a:off x="5650572" y="4099872"/>
                <a:ext cx="689612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50" dirty="0"/>
                  <a:t>620 Ohm</a:t>
                </a:r>
              </a:p>
            </p:txBody>
          </p:sp>
          <p:pic>
            <p:nvPicPr>
              <p:cNvPr id="66" name="Picture 65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E0B837D-0725-848B-5BDC-306031C2C7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rcRect l="19824" t="1" r="18873" b="-3"/>
              <a:stretch/>
            </p:blipFill>
            <p:spPr>
              <a:xfrm rot="16200000">
                <a:off x="2445420" y="4522601"/>
                <a:ext cx="695460" cy="249773"/>
              </a:xfrm>
              <a:prstGeom prst="rect">
                <a:avLst/>
              </a:prstGeom>
            </p:spPr>
          </p:pic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7BCA084-9823-1C19-71D2-F52A65DFB9E0}"/>
                  </a:ext>
                </a:extLst>
              </p:cNvPr>
              <p:cNvGrpSpPr/>
              <p:nvPr/>
            </p:nvGrpSpPr>
            <p:grpSpPr>
              <a:xfrm>
                <a:off x="2715962" y="4895190"/>
                <a:ext cx="543145" cy="246221"/>
                <a:chOff x="8680361" y="3188378"/>
                <a:chExt cx="543145" cy="246221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64F6F0D6-70FD-4CD4-7E8B-C62DD6C63A61}"/>
                    </a:ext>
                  </a:extLst>
                </p:cNvPr>
                <p:cNvCxnSpPr/>
                <p:nvPr/>
              </p:nvCxnSpPr>
              <p:spPr>
                <a:xfrm>
                  <a:off x="8680361" y="3288406"/>
                  <a:ext cx="158839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90DD3DF1-A5D7-35AA-C391-7726604688CC}"/>
                    </a:ext>
                  </a:extLst>
                </p:cNvPr>
                <p:cNvSpPr txBox="1"/>
                <p:nvPr/>
              </p:nvSpPr>
              <p:spPr>
                <a:xfrm>
                  <a:off x="8791978" y="3188378"/>
                  <a:ext cx="43152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GND</a:t>
                  </a:r>
                </a:p>
              </p:txBody>
            </p: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B12D65CB-5135-223C-3FAB-C62FE78DA5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7191" y="3329189"/>
                  <a:ext cx="105177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46554383-423F-E7B1-83B5-7AACB85B7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28655" y="3379847"/>
                  <a:ext cx="6117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FFBD99F-B8B3-AC89-B1BC-65103E6033A9}"/>
                </a:ext>
              </a:extLst>
            </p:cNvPr>
            <p:cNvSpPr txBox="1"/>
            <p:nvPr/>
          </p:nvSpPr>
          <p:spPr>
            <a:xfrm>
              <a:off x="4288920" y="4625427"/>
              <a:ext cx="6992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b="1" dirty="0"/>
                <a:t>10K Ohm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7762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63673" y="81644"/>
            <a:ext cx="391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Analog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9304" y="704369"/>
            <a:ext cx="880898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Simple analog input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Potentiometer is used as analog voltage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Analog voltage is converted to number ranging from 0 – 1023 (0 – 3.3v)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E7F4724F-FBDD-0E0B-7911-8CCCE75B4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663" y="2508998"/>
            <a:ext cx="7074264" cy="39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7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1BEDD-0A73-402E-603F-CDFC2E279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42F18-BA46-3930-09F3-A670712A37F4}"/>
              </a:ext>
            </a:extLst>
          </p:cNvPr>
          <p:cNvSpPr txBox="1"/>
          <p:nvPr/>
        </p:nvSpPr>
        <p:spPr>
          <a:xfrm>
            <a:off x="3263673" y="81644"/>
            <a:ext cx="391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Analog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677F4-EE66-617C-6D77-C6686E5BFF18}"/>
              </a:ext>
            </a:extLst>
          </p:cNvPr>
          <p:cNvSpPr txBox="1"/>
          <p:nvPr/>
        </p:nvSpPr>
        <p:spPr>
          <a:xfrm>
            <a:off x="229304" y="704369"/>
            <a:ext cx="880898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3 : Simple analog input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Potentiometer is used as analog voltage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ym typeface="Wingdings" panose="05000000000000000000" pitchFamily="2" charset="2"/>
              </a:rPr>
              <a:t>Analog voltage is converted to number ranging from 0 – 1023 (0 – 3.3v)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5E68D89-8BE5-6B92-53C7-D2C0D630C37E}"/>
              </a:ext>
            </a:extLst>
          </p:cNvPr>
          <p:cNvGrpSpPr/>
          <p:nvPr/>
        </p:nvGrpSpPr>
        <p:grpSpPr>
          <a:xfrm>
            <a:off x="2889696" y="2663609"/>
            <a:ext cx="6035696" cy="3440271"/>
            <a:chOff x="3130102" y="1538854"/>
            <a:chExt cx="6035696" cy="34402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DC65091-E349-E0F9-18DB-B79E55226066}"/>
                </a:ext>
              </a:extLst>
            </p:cNvPr>
            <p:cNvSpPr/>
            <p:nvPr/>
          </p:nvSpPr>
          <p:spPr>
            <a:xfrm>
              <a:off x="5300576" y="1878874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BA2551-E5A5-C4D7-B5B8-C9DE0BE9407B}"/>
                </a:ext>
              </a:extLst>
            </p:cNvPr>
            <p:cNvSpPr txBox="1"/>
            <p:nvPr/>
          </p:nvSpPr>
          <p:spPr>
            <a:xfrm>
              <a:off x="5683893" y="1538854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39DC1BA-FF37-8F34-3429-FA2BA20D5230}"/>
                </a:ext>
              </a:extLst>
            </p:cNvPr>
            <p:cNvGrpSpPr/>
            <p:nvPr/>
          </p:nvGrpSpPr>
          <p:grpSpPr>
            <a:xfrm>
              <a:off x="6781033" y="1723520"/>
              <a:ext cx="2010945" cy="476742"/>
              <a:chOff x="6781033" y="1723520"/>
              <a:chExt cx="2010945" cy="476742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8D797DEE-7928-2C1D-3B5D-76950F2842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75" name="Picture 7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1AB45AF0-3109-631B-7D4F-28F1F74B04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76" name="Picture 75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B45D3FEA-85A7-3D55-6359-F8A64B4EDE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41111-7639-C6D6-181C-DEA260C62EBA}"/>
                </a:ext>
              </a:extLst>
            </p:cNvPr>
            <p:cNvGrpSpPr/>
            <p:nvPr/>
          </p:nvGrpSpPr>
          <p:grpSpPr>
            <a:xfrm>
              <a:off x="6781033" y="2200262"/>
              <a:ext cx="2010945" cy="476742"/>
              <a:chOff x="6781033" y="1723520"/>
              <a:chExt cx="2010945" cy="476742"/>
            </a:xfrm>
          </p:grpSpPr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46C5F678-EB05-F28D-33D5-E2B5B6A3D6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72" name="Picture 71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82789D3-C1A1-E8B0-F846-D6F9D0787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73" name="Picture 7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FB528F6-756A-5EB9-8932-D42D69219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6E66EE6-7547-6AA8-9625-311C72979DEA}"/>
                </a:ext>
              </a:extLst>
            </p:cNvPr>
            <p:cNvGrpSpPr/>
            <p:nvPr/>
          </p:nvGrpSpPr>
          <p:grpSpPr>
            <a:xfrm>
              <a:off x="6781033" y="2653513"/>
              <a:ext cx="2010945" cy="476742"/>
              <a:chOff x="6781033" y="1723520"/>
              <a:chExt cx="2010945" cy="476742"/>
            </a:xfrm>
          </p:grpSpPr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7707029C-AE19-14C0-5CA3-12A7F50802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69" name="Picture 68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F1D84D42-8D39-3FC3-4EB9-AA98208AF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70" name="Picture 69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AB72FC6-F009-44E4-3FB9-5812CA4DD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B448F3C-F9B9-7F39-F99B-CDA724A1D08A}"/>
                </a:ext>
              </a:extLst>
            </p:cNvPr>
            <p:cNvCxnSpPr>
              <a:cxnSpLocks/>
            </p:cNvCxnSpPr>
            <p:nvPr/>
          </p:nvCxnSpPr>
          <p:spPr>
            <a:xfrm>
              <a:off x="8761927" y="2063540"/>
              <a:ext cx="0" cy="1224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A910C0F-E8CE-C4AA-2F2A-FC99F84892B3}"/>
                </a:ext>
              </a:extLst>
            </p:cNvPr>
            <p:cNvGrpSpPr/>
            <p:nvPr/>
          </p:nvGrpSpPr>
          <p:grpSpPr>
            <a:xfrm>
              <a:off x="8680361" y="3188378"/>
              <a:ext cx="485437" cy="200055"/>
              <a:chOff x="8680361" y="3188378"/>
              <a:chExt cx="485437" cy="200055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DAB6BAA8-A1CD-E61C-F7DD-3C268DC98368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1C80E5A-6ACC-B5AC-A826-E3A0A46A75BC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5AAB8DD8-38E5-4A65-1DBC-4980F0CBA8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596580C6-1617-60DB-BBF1-649F64636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A1B1B-8219-7925-F171-D5240265E650}"/>
                </a:ext>
              </a:extLst>
            </p:cNvPr>
            <p:cNvSpPr/>
            <p:nvPr/>
          </p:nvSpPr>
          <p:spPr>
            <a:xfrm>
              <a:off x="8718458" y="2492872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4ED7919-41F6-C73E-A7A8-CF8767983B43}"/>
                </a:ext>
              </a:extLst>
            </p:cNvPr>
            <p:cNvSpPr/>
            <p:nvPr/>
          </p:nvSpPr>
          <p:spPr>
            <a:xfrm>
              <a:off x="8713626" y="201841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AF5ADBA-8159-2696-4023-253CD0113CCE}"/>
                </a:ext>
              </a:extLst>
            </p:cNvPr>
            <p:cNvSpPr/>
            <p:nvPr/>
          </p:nvSpPr>
          <p:spPr>
            <a:xfrm>
              <a:off x="8718458" y="293843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B98784A6-2653-C8C0-DFDC-D339A00859C6}"/>
                </a:ext>
              </a:extLst>
            </p:cNvPr>
            <p:cNvSpPr/>
            <p:nvPr/>
          </p:nvSpPr>
          <p:spPr>
            <a:xfrm rot="5400000">
              <a:off x="8303562" y="1973723"/>
              <a:ext cx="247014" cy="20606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5706A327-7BDE-0F8A-00B0-8FDC156F4E29}"/>
                </a:ext>
              </a:extLst>
            </p:cNvPr>
            <p:cNvSpPr/>
            <p:nvPr/>
          </p:nvSpPr>
          <p:spPr>
            <a:xfrm rot="5400000">
              <a:off x="8303562" y="2440838"/>
              <a:ext cx="247014" cy="206064"/>
            </a:xfrm>
            <a:prstGeom prst="triangl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A09F7877-DB11-B66B-96EF-E0AF5A9D592E}"/>
                </a:ext>
              </a:extLst>
            </p:cNvPr>
            <p:cNvSpPr/>
            <p:nvPr/>
          </p:nvSpPr>
          <p:spPr>
            <a:xfrm rot="5400000">
              <a:off x="8303562" y="2890501"/>
              <a:ext cx="247014" cy="206064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146CB8-0B46-57B1-71E7-7ED693FBAE06}"/>
                </a:ext>
              </a:extLst>
            </p:cNvPr>
            <p:cNvSpPr txBox="1"/>
            <p:nvPr/>
          </p:nvSpPr>
          <p:spPr>
            <a:xfrm>
              <a:off x="6424331" y="1937134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B781EA-E42B-34D3-9327-41813F082B86}"/>
                </a:ext>
              </a:extLst>
            </p:cNvPr>
            <p:cNvSpPr txBox="1"/>
            <p:nvPr/>
          </p:nvSpPr>
          <p:spPr>
            <a:xfrm>
              <a:off x="6431632" y="2416169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4816DF0-0C6D-0DDA-90B9-9861C3E251FF}"/>
                </a:ext>
              </a:extLst>
            </p:cNvPr>
            <p:cNvSpPr txBox="1"/>
            <p:nvPr/>
          </p:nvSpPr>
          <p:spPr>
            <a:xfrm>
              <a:off x="6431632" y="2855430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D21</a:t>
              </a:r>
            </a:p>
          </p:txBody>
        </p:sp>
        <p:pic>
          <p:nvPicPr>
            <p:cNvPr id="22" name="Picture 21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7C2E1B85-9A61-0646-4B59-D1E751D4FD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rcRect b="43436"/>
            <a:stretch/>
          </p:blipFill>
          <p:spPr>
            <a:xfrm rot="16200000" flipH="1">
              <a:off x="4137205" y="2495960"/>
              <a:ext cx="611557" cy="279042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83510C3-78D6-FDA2-2066-C9FAA0F3F8D1}"/>
                </a:ext>
              </a:extLst>
            </p:cNvPr>
            <p:cNvGrpSpPr/>
            <p:nvPr/>
          </p:nvGrpSpPr>
          <p:grpSpPr>
            <a:xfrm>
              <a:off x="4425149" y="3603046"/>
              <a:ext cx="485437" cy="264726"/>
              <a:chOff x="4420856" y="3603046"/>
              <a:chExt cx="485437" cy="264726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E949290F-02DB-89ED-D674-7E16F9F5B1A9}"/>
                  </a:ext>
                </a:extLst>
              </p:cNvPr>
              <p:cNvCxnSpPr/>
              <p:nvPr/>
            </p:nvCxnSpPr>
            <p:spPr>
              <a:xfrm>
                <a:off x="4420856" y="3767745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21BB8CF-53A9-28F6-2635-03B6776DC41B}"/>
                  </a:ext>
                </a:extLst>
              </p:cNvPr>
              <p:cNvSpPr txBox="1"/>
              <p:nvPr/>
            </p:nvSpPr>
            <p:spPr>
              <a:xfrm>
                <a:off x="4532473" y="3667717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03608AF-36AA-324A-20F2-CF144B410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7686" y="3808528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88B2AFCD-6EC9-9D64-B65C-A2230A1EAB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9150" y="3859186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1DF18C5-EB3D-56AF-1ECC-407353936F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9797" y="3603046"/>
                <a:ext cx="0" cy="16469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24" name="Picture 23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217E2A8-E7AA-043F-8E8E-0BBFD155B7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 l="19824" t="1" r="18873" b="-3"/>
            <a:stretch/>
          </p:blipFill>
          <p:spPr>
            <a:xfrm rot="16200000">
              <a:off x="4171189" y="3130429"/>
              <a:ext cx="695460" cy="249773"/>
            </a:xfrm>
            <a:prstGeom prst="rect">
              <a:avLst/>
            </a:prstGeom>
          </p:spPr>
        </p:pic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7B4C880-6574-5FC8-9837-E29FD7E91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9797" y="2938438"/>
              <a:ext cx="79077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DF8ECCC-67E3-D0B0-4F5B-5C127468D6CE}"/>
                </a:ext>
              </a:extLst>
            </p:cNvPr>
            <p:cNvSpPr/>
            <p:nvPr/>
          </p:nvSpPr>
          <p:spPr>
            <a:xfrm>
              <a:off x="4478135" y="2899000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E04087D-DF9B-9CDC-C902-3CECB7032E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7245" y="2076755"/>
              <a:ext cx="185333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C276973-1602-B1A8-8D08-E39A588FC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661" y="2063494"/>
              <a:ext cx="1429" cy="2705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146ED7F-B3CB-2B39-DAB5-F48A8AAC0F21}"/>
                </a:ext>
              </a:extLst>
            </p:cNvPr>
            <p:cNvSpPr/>
            <p:nvPr/>
          </p:nvSpPr>
          <p:spPr>
            <a:xfrm>
              <a:off x="4478135" y="2033223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D694D58-BF07-64AF-1416-5CDA42E656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7245" y="2074006"/>
              <a:ext cx="0" cy="17851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1" name="Picture 3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27FE6CD-09FF-528A-BCE5-B7336F527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tretch>
              <a:fillRect/>
            </a:stretch>
          </p:blipFill>
          <p:spPr>
            <a:xfrm rot="16200000">
              <a:off x="3077649" y="3860981"/>
              <a:ext cx="739193" cy="634288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C3951D5-60A1-DDBD-3807-7998DDC958E3}"/>
                </a:ext>
              </a:extLst>
            </p:cNvPr>
            <p:cNvGrpSpPr/>
            <p:nvPr/>
          </p:nvGrpSpPr>
          <p:grpSpPr>
            <a:xfrm>
              <a:off x="3356555" y="4516519"/>
              <a:ext cx="485437" cy="264726"/>
              <a:chOff x="4420856" y="3603046"/>
              <a:chExt cx="485437" cy="264726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447C4E4F-0903-0098-2FA8-FC854BAA3D79}"/>
                  </a:ext>
                </a:extLst>
              </p:cNvPr>
              <p:cNvCxnSpPr/>
              <p:nvPr/>
            </p:nvCxnSpPr>
            <p:spPr>
              <a:xfrm>
                <a:off x="4420856" y="3767745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F759437-3461-DD6E-C484-B82C9DB35F21}"/>
                  </a:ext>
                </a:extLst>
              </p:cNvPr>
              <p:cNvSpPr txBox="1"/>
              <p:nvPr/>
            </p:nvSpPr>
            <p:spPr>
              <a:xfrm>
                <a:off x="4532473" y="3667717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30400C6-4684-0C1E-98E8-488EF4F654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7686" y="3808528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B2854E0-D777-9044-7264-220BD6A0D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9150" y="3859186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5BCA3FB-5ED3-02CD-12F6-D99748DB44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9797" y="3603046"/>
                <a:ext cx="0" cy="16469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E2F7B31-4E45-C119-4E13-2367D7692A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3839" y="4173832"/>
              <a:ext cx="1556737" cy="42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41F78BA-3B49-7F5E-808C-1CC98E271F04}"/>
                </a:ext>
              </a:extLst>
            </p:cNvPr>
            <p:cNvSpPr txBox="1"/>
            <p:nvPr/>
          </p:nvSpPr>
          <p:spPr>
            <a:xfrm>
              <a:off x="5234479" y="1943201"/>
              <a:ext cx="2680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FF0000"/>
                  </a:solidFill>
                </a:rPr>
                <a:t>V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8B1596A-CDA2-E156-34B0-F598DE7CF497}"/>
                </a:ext>
              </a:extLst>
            </p:cNvPr>
            <p:cNvSpPr txBox="1"/>
            <p:nvPr/>
          </p:nvSpPr>
          <p:spPr>
            <a:xfrm>
              <a:off x="5240306" y="2800039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D19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63137C-B8A8-9EE0-5C39-122B27CF9664}"/>
                </a:ext>
              </a:extLst>
            </p:cNvPr>
            <p:cNvSpPr txBox="1"/>
            <p:nvPr/>
          </p:nvSpPr>
          <p:spPr>
            <a:xfrm>
              <a:off x="5246623" y="4043027"/>
              <a:ext cx="8867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VP (ADC1-0)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3DE7E79-3BE5-7ACE-5EB6-8E0921A346B6}"/>
                </a:ext>
              </a:extLst>
            </p:cNvPr>
            <p:cNvSpPr txBox="1"/>
            <p:nvPr/>
          </p:nvSpPr>
          <p:spPr>
            <a:xfrm>
              <a:off x="3541111" y="2416169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Push-button</a:t>
              </a:r>
            </a:p>
            <a:p>
              <a:r>
                <a:rPr lang="en-US" sz="900" dirty="0"/>
                <a:t>            Switch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3457562-ED86-461B-5F5D-026E374EFF01}"/>
                </a:ext>
              </a:extLst>
            </p:cNvPr>
            <p:cNvSpPr txBox="1"/>
            <p:nvPr/>
          </p:nvSpPr>
          <p:spPr>
            <a:xfrm>
              <a:off x="3488881" y="4211501"/>
              <a:ext cx="10166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Potentiometer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D4953FE-65D8-ACEC-C834-1ABE25ADC041}"/>
                </a:ext>
              </a:extLst>
            </p:cNvPr>
            <p:cNvSpPr txBox="1"/>
            <p:nvPr/>
          </p:nvSpPr>
          <p:spPr>
            <a:xfrm>
              <a:off x="7397159" y="1792770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620 Ohm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726C0E-4222-6432-30AD-98B326849632}"/>
                </a:ext>
              </a:extLst>
            </p:cNvPr>
            <p:cNvSpPr txBox="1"/>
            <p:nvPr/>
          </p:nvSpPr>
          <p:spPr>
            <a:xfrm>
              <a:off x="7376341" y="2264653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620 Ohm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96512A2-A58C-B41F-A389-EC2A75FFC633}"/>
                </a:ext>
              </a:extLst>
            </p:cNvPr>
            <p:cNvSpPr txBox="1"/>
            <p:nvPr/>
          </p:nvSpPr>
          <p:spPr>
            <a:xfrm>
              <a:off x="7376341" y="2707700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620 Ohm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EFEB067-07A3-914C-7860-472A79B82D0A}"/>
                </a:ext>
              </a:extLst>
            </p:cNvPr>
            <p:cNvSpPr txBox="1"/>
            <p:nvPr/>
          </p:nvSpPr>
          <p:spPr>
            <a:xfrm>
              <a:off x="3809922" y="3150804"/>
              <a:ext cx="64312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10K Ohm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317D9FB-B7A8-A07E-7011-E3BDCDD5A00F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3889" t="13801" r="28311" b="32750"/>
          <a:stretch/>
        </p:blipFill>
        <p:spPr>
          <a:xfrm>
            <a:off x="168907" y="4593465"/>
            <a:ext cx="2441172" cy="209915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121F382-CB8F-E669-96FD-9B59F3AA58FF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3333" b="12989"/>
          <a:stretch/>
        </p:blipFill>
        <p:spPr>
          <a:xfrm>
            <a:off x="119558" y="2379352"/>
            <a:ext cx="2772100" cy="204241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85A5380-B997-2CFA-4EA1-2DE0CBBE09A4}"/>
              </a:ext>
            </a:extLst>
          </p:cNvPr>
          <p:cNvSpPr txBox="1"/>
          <p:nvPr/>
        </p:nvSpPr>
        <p:spPr>
          <a:xfrm>
            <a:off x="2122557" y="4328522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7C90F1-9280-EFFF-9CE0-97DF3DDD54A8}"/>
              </a:ext>
            </a:extLst>
          </p:cNvPr>
          <p:cNvSpPr txBox="1"/>
          <p:nvPr/>
        </p:nvSpPr>
        <p:spPr>
          <a:xfrm>
            <a:off x="1806752" y="4199105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79E36D9-F596-A2D5-2EA4-A50FB2E8B55A}"/>
              </a:ext>
            </a:extLst>
          </p:cNvPr>
          <p:cNvSpPr txBox="1"/>
          <p:nvPr/>
        </p:nvSpPr>
        <p:spPr>
          <a:xfrm>
            <a:off x="1504638" y="4021643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4EE9B0-0EDC-5057-677B-D7ABEBB62FB4}"/>
              </a:ext>
            </a:extLst>
          </p:cNvPr>
          <p:cNvSpPr txBox="1"/>
          <p:nvPr/>
        </p:nvSpPr>
        <p:spPr>
          <a:xfrm>
            <a:off x="3205370" y="4681357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C5C331-D68D-53AA-1EC1-0CE472EE52E8}"/>
              </a:ext>
            </a:extLst>
          </p:cNvPr>
          <p:cNvSpPr txBox="1"/>
          <p:nvPr/>
        </p:nvSpPr>
        <p:spPr>
          <a:xfrm>
            <a:off x="3441748" y="4983116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EF1EFC-FD45-E14A-CE55-0DC29CDDC6D7}"/>
              </a:ext>
            </a:extLst>
          </p:cNvPr>
          <p:cNvSpPr txBox="1"/>
          <p:nvPr/>
        </p:nvSpPr>
        <p:spPr>
          <a:xfrm>
            <a:off x="2995270" y="5452458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192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622819" y="1177061"/>
            <a:ext cx="84395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int POT = 36;    // select the input pin for the potentiometer</a:t>
            </a:r>
          </a:p>
          <a:p>
            <a:r>
              <a:rPr lang="en-US" sz="2000" dirty="0"/>
              <a:t>int </a:t>
            </a:r>
            <a:r>
              <a:rPr lang="en-US" sz="2000" dirty="0" err="1"/>
              <a:t>analogValue</a:t>
            </a:r>
            <a:r>
              <a:rPr lang="en-US" sz="2000" dirty="0"/>
              <a:t> = 0;  // variable to store the value coming from the sensor</a:t>
            </a:r>
          </a:p>
          <a:p>
            <a:endParaRPr lang="en-US" sz="2000" dirty="0"/>
          </a:p>
          <a:p>
            <a:r>
              <a:rPr lang="en-US" sz="2000" dirty="0"/>
              <a:t>void setup() {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Serial.begin</a:t>
            </a:r>
            <a:r>
              <a:rPr lang="en-US" sz="2000" dirty="0"/>
              <a:t>(9600);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void loop() {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analogValue</a:t>
            </a:r>
            <a:r>
              <a:rPr lang="en-US" sz="2000" dirty="0"/>
              <a:t> = </a:t>
            </a:r>
            <a:r>
              <a:rPr lang="en-US" sz="2000" dirty="0" err="1"/>
              <a:t>analogRead</a:t>
            </a:r>
            <a:r>
              <a:rPr lang="en-US" sz="2000" dirty="0"/>
              <a:t>(POT); // read the value from the sensor: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Serial.println</a:t>
            </a:r>
            <a:r>
              <a:rPr lang="en-US" sz="2000" dirty="0"/>
              <a:t>(</a:t>
            </a:r>
            <a:r>
              <a:rPr lang="en-US" sz="2000" dirty="0" err="1"/>
              <a:t>analogValue</a:t>
            </a:r>
            <a:r>
              <a:rPr lang="en-US" sz="2000" dirty="0"/>
              <a:t>);</a:t>
            </a:r>
          </a:p>
          <a:p>
            <a:r>
              <a:rPr lang="en-US" sz="2000" dirty="0"/>
              <a:t>  delay(500);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3673" y="81644"/>
            <a:ext cx="391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Analog Input</a:t>
            </a:r>
          </a:p>
        </p:txBody>
      </p:sp>
    </p:spTree>
    <p:extLst>
      <p:ext uri="{BB962C8B-B14F-4D97-AF65-F5344CB8AC3E}">
        <p14:creationId xmlns:p14="http://schemas.microsoft.com/office/powerpoint/2010/main" val="5555889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63673" y="81644"/>
            <a:ext cx="391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Analog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539" y="655760"/>
            <a:ext cx="89193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 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Open default blink example: </a:t>
            </a:r>
            <a:r>
              <a:rPr lang="en-US" sz="2000" i="1" dirty="0"/>
              <a:t>File </a:t>
            </a:r>
            <a:r>
              <a:rPr lang="en-US" sz="2000" i="1" dirty="0">
                <a:sym typeface="Wingdings" panose="05000000000000000000" pitchFamily="2" charset="2"/>
              </a:rPr>
              <a:t> Examples  03. Analog  </a:t>
            </a:r>
            <a:r>
              <a:rPr lang="en-US" sz="2000" i="1" dirty="0" err="1">
                <a:sym typeface="Wingdings" panose="05000000000000000000" pitchFamily="2" charset="2"/>
              </a:rPr>
              <a:t>AnalogInput</a:t>
            </a:r>
            <a:endParaRPr lang="en-US" sz="2000" i="1" dirty="0"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Change </a:t>
            </a:r>
            <a:r>
              <a:rPr lang="en-US" sz="2000" b="1" i="1" dirty="0">
                <a:solidFill>
                  <a:schemeClr val="accent1"/>
                </a:solidFill>
                <a:sym typeface="Wingdings" panose="05000000000000000000" pitchFamily="2" charset="2"/>
              </a:rPr>
              <a:t>int </a:t>
            </a:r>
            <a:r>
              <a:rPr lang="en-US" sz="2000" b="1" i="1" dirty="0" err="1">
                <a:solidFill>
                  <a:schemeClr val="accent1"/>
                </a:solidFill>
                <a:sym typeface="Wingdings" panose="05000000000000000000" pitchFamily="2" charset="2"/>
              </a:rPr>
              <a:t>sensorPin</a:t>
            </a:r>
            <a:r>
              <a:rPr lang="en-US" sz="2000" b="1" i="1" dirty="0">
                <a:solidFill>
                  <a:schemeClr val="accent1"/>
                </a:solidFill>
                <a:sym typeface="Wingdings" panose="05000000000000000000" pitchFamily="2" charset="2"/>
              </a:rPr>
              <a:t> = A0 </a:t>
            </a:r>
            <a:r>
              <a:rPr lang="en-US" sz="2000" dirty="0">
                <a:sym typeface="Wingdings" panose="05000000000000000000" pitchFamily="2" charset="2"/>
              </a:rPr>
              <a:t>to </a:t>
            </a:r>
            <a:r>
              <a:rPr lang="en-US" sz="2000" b="1" i="1" dirty="0">
                <a:solidFill>
                  <a:srgbClr val="FF0000"/>
                </a:solidFill>
                <a:sym typeface="Wingdings" panose="05000000000000000000" pitchFamily="2" charset="2"/>
              </a:rPr>
              <a:t>int </a:t>
            </a:r>
            <a:r>
              <a:rPr lang="en-US" sz="2000" b="1" i="1" dirty="0" err="1">
                <a:solidFill>
                  <a:srgbClr val="FF0000"/>
                </a:solidFill>
                <a:sym typeface="Wingdings" panose="05000000000000000000" pitchFamily="2" charset="2"/>
              </a:rPr>
              <a:t>sensorPin</a:t>
            </a:r>
            <a:r>
              <a:rPr lang="en-US" sz="2000" b="1" i="1" dirty="0">
                <a:solidFill>
                  <a:srgbClr val="FF0000"/>
                </a:solidFill>
                <a:sym typeface="Wingdings" panose="05000000000000000000" pitchFamily="2" charset="2"/>
              </a:rPr>
              <a:t> = 36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Make D23, D22, D1 to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anose="05000000000000000000" pitchFamily="2" charset="2"/>
              </a:rPr>
              <a:t>Adjust potentiometer to change blinking frequency</a:t>
            </a:r>
          </a:p>
          <a:p>
            <a:r>
              <a:rPr lang="en-US" sz="2400" dirty="0"/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0E46691-CF8B-32DC-918E-341ABBAD6637}"/>
              </a:ext>
            </a:extLst>
          </p:cNvPr>
          <p:cNvGrpSpPr/>
          <p:nvPr/>
        </p:nvGrpSpPr>
        <p:grpSpPr>
          <a:xfrm>
            <a:off x="2889696" y="2663609"/>
            <a:ext cx="6035696" cy="3440271"/>
            <a:chOff x="3130102" y="1538854"/>
            <a:chExt cx="6035696" cy="344027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96E7D9-D0DE-34A4-836E-1293517CC9B7}"/>
                </a:ext>
              </a:extLst>
            </p:cNvPr>
            <p:cNvSpPr/>
            <p:nvPr/>
          </p:nvSpPr>
          <p:spPr>
            <a:xfrm>
              <a:off x="5300576" y="1878874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AE7C87-38F9-65F1-704C-1173CB66501E}"/>
                </a:ext>
              </a:extLst>
            </p:cNvPr>
            <p:cNvSpPr txBox="1"/>
            <p:nvPr/>
          </p:nvSpPr>
          <p:spPr>
            <a:xfrm>
              <a:off x="5683893" y="1538854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D0499D8-7591-C511-D352-3FC958D9E818}"/>
                </a:ext>
              </a:extLst>
            </p:cNvPr>
            <p:cNvGrpSpPr/>
            <p:nvPr/>
          </p:nvGrpSpPr>
          <p:grpSpPr>
            <a:xfrm>
              <a:off x="6781033" y="1723520"/>
              <a:ext cx="2010945" cy="476742"/>
              <a:chOff x="6781033" y="1723520"/>
              <a:chExt cx="2010945" cy="476742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9ABE696-520F-1210-507A-1C8A9E48FE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86" name="Picture 85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507021A-3C4A-7354-E84C-A6155F41CD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87" name="Picture 86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7591E9E9-9842-1D7F-3290-1549A6D73C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3BA528E-85A9-D74C-B891-4B38415B49F6}"/>
                </a:ext>
              </a:extLst>
            </p:cNvPr>
            <p:cNvGrpSpPr/>
            <p:nvPr/>
          </p:nvGrpSpPr>
          <p:grpSpPr>
            <a:xfrm>
              <a:off x="6781033" y="2200262"/>
              <a:ext cx="2010945" cy="476742"/>
              <a:chOff x="6781033" y="1723520"/>
              <a:chExt cx="2010945" cy="476742"/>
            </a:xfrm>
          </p:grpSpPr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E567DE3-7F47-6C6E-679F-DC8470BD3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83" name="Picture 8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9EEAC78-10F0-7E79-795F-AE7C501A8E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84" name="Picture 83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42766D21-FC03-BAD4-60AA-7B1DED825C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9A7C0FE-114C-A27E-16CA-E32AC75FD66D}"/>
                </a:ext>
              </a:extLst>
            </p:cNvPr>
            <p:cNvGrpSpPr/>
            <p:nvPr/>
          </p:nvGrpSpPr>
          <p:grpSpPr>
            <a:xfrm>
              <a:off x="6781033" y="2653513"/>
              <a:ext cx="2010945" cy="476742"/>
              <a:chOff x="6781033" y="1723520"/>
              <a:chExt cx="2010945" cy="476742"/>
            </a:xfrm>
          </p:grpSpPr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911E399A-06EE-9E2B-34DE-D57DDDB74B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80" name="Picture 79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64F6B9C-7BE7-B5EC-1BC9-69ED48D455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81" name="Picture 80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BD7FB51-B635-F6BB-9FBC-42A06C2BA2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D471767-67B1-0D41-C298-C8DBFC1E5BBD}"/>
                </a:ext>
              </a:extLst>
            </p:cNvPr>
            <p:cNvCxnSpPr>
              <a:cxnSpLocks/>
            </p:cNvCxnSpPr>
            <p:nvPr/>
          </p:nvCxnSpPr>
          <p:spPr>
            <a:xfrm>
              <a:off x="8761927" y="2063540"/>
              <a:ext cx="0" cy="1224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B5EF1B0-3CEB-5298-C67C-8E6D4190BF5F}"/>
                </a:ext>
              </a:extLst>
            </p:cNvPr>
            <p:cNvGrpSpPr/>
            <p:nvPr/>
          </p:nvGrpSpPr>
          <p:grpSpPr>
            <a:xfrm>
              <a:off x="8680361" y="3188378"/>
              <a:ext cx="485437" cy="200055"/>
              <a:chOff x="8680361" y="3188378"/>
              <a:chExt cx="485437" cy="200055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55E579E5-CA71-169B-2A4A-C336B53297D8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108FC47-E8EB-60AB-DE2D-8F5DC0CE4C20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92E3476-5539-1FB7-7530-79166E853C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05FF0D48-792D-0827-65BB-8773ABD0B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0E7B6EA-D8A5-ECCF-D72B-CB5F83755C88}"/>
                </a:ext>
              </a:extLst>
            </p:cNvPr>
            <p:cNvSpPr/>
            <p:nvPr/>
          </p:nvSpPr>
          <p:spPr>
            <a:xfrm>
              <a:off x="8718458" y="2492872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EDD4F75-36C4-49F7-715C-22F8545E4CDD}"/>
                </a:ext>
              </a:extLst>
            </p:cNvPr>
            <p:cNvSpPr/>
            <p:nvPr/>
          </p:nvSpPr>
          <p:spPr>
            <a:xfrm>
              <a:off x="8713626" y="201841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72C5320-F98C-A843-900B-0AB1F6FC34D9}"/>
                </a:ext>
              </a:extLst>
            </p:cNvPr>
            <p:cNvSpPr/>
            <p:nvPr/>
          </p:nvSpPr>
          <p:spPr>
            <a:xfrm>
              <a:off x="8718458" y="293843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876A6E03-F69D-25BF-0BB5-AEAF3351BA4D}"/>
                </a:ext>
              </a:extLst>
            </p:cNvPr>
            <p:cNvSpPr/>
            <p:nvPr/>
          </p:nvSpPr>
          <p:spPr>
            <a:xfrm rot="5400000">
              <a:off x="8303562" y="1973723"/>
              <a:ext cx="247014" cy="20606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3D0ABF86-27B0-7ACD-0913-A79A6EAEA972}"/>
                </a:ext>
              </a:extLst>
            </p:cNvPr>
            <p:cNvSpPr/>
            <p:nvPr/>
          </p:nvSpPr>
          <p:spPr>
            <a:xfrm rot="5400000">
              <a:off x="8303562" y="2440838"/>
              <a:ext cx="247014" cy="206064"/>
            </a:xfrm>
            <a:prstGeom prst="triangl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69C24160-C311-515D-8670-B4899CD2DAAC}"/>
                </a:ext>
              </a:extLst>
            </p:cNvPr>
            <p:cNvSpPr/>
            <p:nvPr/>
          </p:nvSpPr>
          <p:spPr>
            <a:xfrm rot="5400000">
              <a:off x="8303562" y="2890501"/>
              <a:ext cx="247014" cy="206064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C5E72C1-849A-0B17-7DFE-63CD747C7328}"/>
                </a:ext>
              </a:extLst>
            </p:cNvPr>
            <p:cNvSpPr txBox="1"/>
            <p:nvPr/>
          </p:nvSpPr>
          <p:spPr>
            <a:xfrm>
              <a:off x="6424331" y="1937134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D23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D68CE26-24AD-3925-F99A-6D6B1AF6214A}"/>
                </a:ext>
              </a:extLst>
            </p:cNvPr>
            <p:cNvSpPr txBox="1"/>
            <p:nvPr/>
          </p:nvSpPr>
          <p:spPr>
            <a:xfrm>
              <a:off x="6431632" y="2416169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BE143A4-6490-9A74-1D4C-593A70FC0FAD}"/>
                </a:ext>
              </a:extLst>
            </p:cNvPr>
            <p:cNvSpPr txBox="1"/>
            <p:nvPr/>
          </p:nvSpPr>
          <p:spPr>
            <a:xfrm>
              <a:off x="6431632" y="2855430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D21</a:t>
              </a:r>
            </a:p>
          </p:txBody>
        </p:sp>
        <p:pic>
          <p:nvPicPr>
            <p:cNvPr id="33" name="Picture 32" descr="A black and white symbol&#10;&#10;Description automatically generated">
              <a:extLst>
                <a:ext uri="{FF2B5EF4-FFF2-40B4-BE49-F238E27FC236}">
                  <a16:creationId xmlns:a16="http://schemas.microsoft.com/office/drawing/2014/main" id="{E8746C1A-65EB-F6E5-272A-CB3731DDA6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rcRect b="43436"/>
            <a:stretch/>
          </p:blipFill>
          <p:spPr>
            <a:xfrm rot="16200000" flipH="1">
              <a:off x="4137205" y="2495960"/>
              <a:ext cx="611557" cy="279042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FE34EC6-0EB5-67B6-8BA0-021F40D215BF}"/>
                </a:ext>
              </a:extLst>
            </p:cNvPr>
            <p:cNvGrpSpPr/>
            <p:nvPr/>
          </p:nvGrpSpPr>
          <p:grpSpPr>
            <a:xfrm>
              <a:off x="4425149" y="3603046"/>
              <a:ext cx="485437" cy="264726"/>
              <a:chOff x="4420856" y="3603046"/>
              <a:chExt cx="485437" cy="264726"/>
            </a:xfrm>
          </p:grpSpPr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88D1738-F14B-B67A-6A1F-FFB3A3C0EA0F}"/>
                  </a:ext>
                </a:extLst>
              </p:cNvPr>
              <p:cNvCxnSpPr/>
              <p:nvPr/>
            </p:nvCxnSpPr>
            <p:spPr>
              <a:xfrm>
                <a:off x="4420856" y="3767745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38F7AEB-B2B4-B052-0B85-614821D9CE57}"/>
                  </a:ext>
                </a:extLst>
              </p:cNvPr>
              <p:cNvSpPr txBox="1"/>
              <p:nvPr/>
            </p:nvSpPr>
            <p:spPr>
              <a:xfrm>
                <a:off x="4532473" y="3667717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B6556F3-3A01-40E6-005B-26336D73F9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7686" y="3808528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B787674-146E-A3B8-46A6-E6D365DAB6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9150" y="3859186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1ABF219F-F204-006A-DC91-975E618501A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9797" y="3603046"/>
                <a:ext cx="0" cy="16469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35" name="Picture 3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3A8D0A96-5772-2E85-C32F-A35186C624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 l="19824" t="1" r="18873" b="-3"/>
            <a:stretch/>
          </p:blipFill>
          <p:spPr>
            <a:xfrm rot="16200000">
              <a:off x="4171189" y="3130429"/>
              <a:ext cx="695460" cy="249773"/>
            </a:xfrm>
            <a:prstGeom prst="rect">
              <a:avLst/>
            </a:prstGeom>
          </p:spPr>
        </p:pic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98B78C4-865C-D9A4-302E-023EB89B87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9797" y="2938438"/>
              <a:ext cx="79077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8900256-023A-303D-D68E-50104B6C8E26}"/>
                </a:ext>
              </a:extLst>
            </p:cNvPr>
            <p:cNvSpPr/>
            <p:nvPr/>
          </p:nvSpPr>
          <p:spPr>
            <a:xfrm>
              <a:off x="4478135" y="2899000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3CCC46F-82A5-0277-9256-7A5A3C21BC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47245" y="2076755"/>
              <a:ext cx="1853331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774DBE6-B315-E7E3-FE1A-E8A48B45E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2661" y="2063494"/>
              <a:ext cx="1429" cy="2705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494FC63-2BB0-2469-AC8E-0E65B0755410}"/>
                </a:ext>
              </a:extLst>
            </p:cNvPr>
            <p:cNvSpPr/>
            <p:nvPr/>
          </p:nvSpPr>
          <p:spPr>
            <a:xfrm>
              <a:off x="4478135" y="2033223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9AD184F-F003-30D1-CCAD-B52039D97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7245" y="2074006"/>
              <a:ext cx="0" cy="17851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51" name="Picture 5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FE46E97-B289-A1E0-5C36-2C504C4BF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10"/>
                </a:ext>
              </a:extLst>
            </a:blip>
            <a:stretch>
              <a:fillRect/>
            </a:stretch>
          </p:blipFill>
          <p:spPr>
            <a:xfrm rot="16200000">
              <a:off x="3077649" y="3860981"/>
              <a:ext cx="739193" cy="634288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C730825-44B6-D35D-B6C0-9CB753667FAA}"/>
                </a:ext>
              </a:extLst>
            </p:cNvPr>
            <p:cNvGrpSpPr/>
            <p:nvPr/>
          </p:nvGrpSpPr>
          <p:grpSpPr>
            <a:xfrm>
              <a:off x="3356555" y="4516519"/>
              <a:ext cx="485437" cy="264726"/>
              <a:chOff x="4420856" y="3603046"/>
              <a:chExt cx="485437" cy="264726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34891C0-B6C5-95C8-8D02-35E0FC9AE4F1}"/>
                  </a:ext>
                </a:extLst>
              </p:cNvPr>
              <p:cNvCxnSpPr/>
              <p:nvPr/>
            </p:nvCxnSpPr>
            <p:spPr>
              <a:xfrm>
                <a:off x="4420856" y="3767745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EA768F4-EAF4-4F52-E7CD-E089F50051F0}"/>
                  </a:ext>
                </a:extLst>
              </p:cNvPr>
              <p:cNvSpPr txBox="1"/>
              <p:nvPr/>
            </p:nvSpPr>
            <p:spPr>
              <a:xfrm>
                <a:off x="4532473" y="3667717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7B907F3-3581-E27D-561B-F434CE2EA1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7686" y="3808528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B91205F-39E6-5CE1-5970-4A52F569C6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9150" y="3859186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2B8C4506-C4A0-7047-B4C8-20D3966BEE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09797" y="3603046"/>
                <a:ext cx="0" cy="16469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6E4CA99-05F7-D3EB-B464-EA7012072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43839" y="4173832"/>
              <a:ext cx="1556737" cy="42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6F6AE03-475D-D79D-CC86-97878C815932}"/>
                </a:ext>
              </a:extLst>
            </p:cNvPr>
            <p:cNvSpPr txBox="1"/>
            <p:nvPr/>
          </p:nvSpPr>
          <p:spPr>
            <a:xfrm>
              <a:off x="5234479" y="1943201"/>
              <a:ext cx="26802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FF0000"/>
                  </a:solidFill>
                </a:rPr>
                <a:t>V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D4B171C-D806-961D-77A0-36846F9300CB}"/>
                </a:ext>
              </a:extLst>
            </p:cNvPr>
            <p:cNvSpPr txBox="1"/>
            <p:nvPr/>
          </p:nvSpPr>
          <p:spPr>
            <a:xfrm>
              <a:off x="5240306" y="2800039"/>
              <a:ext cx="4154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D19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EFA2F9-A0C1-A520-DE6E-32C4377DB625}"/>
                </a:ext>
              </a:extLst>
            </p:cNvPr>
            <p:cNvSpPr txBox="1"/>
            <p:nvPr/>
          </p:nvSpPr>
          <p:spPr>
            <a:xfrm>
              <a:off x="5246623" y="4043027"/>
              <a:ext cx="8867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VP (ADC1-0)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DFFEFEA-4AD7-91A5-596D-8A069EEA3AFC}"/>
                </a:ext>
              </a:extLst>
            </p:cNvPr>
            <p:cNvSpPr txBox="1"/>
            <p:nvPr/>
          </p:nvSpPr>
          <p:spPr>
            <a:xfrm>
              <a:off x="3541111" y="2416169"/>
              <a:ext cx="8066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Push-button</a:t>
              </a:r>
            </a:p>
            <a:p>
              <a:r>
                <a:rPr lang="en-US" sz="900" dirty="0"/>
                <a:t>            Switch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287F801-A8A5-29FB-3E54-AC21C02E2244}"/>
                </a:ext>
              </a:extLst>
            </p:cNvPr>
            <p:cNvSpPr txBox="1"/>
            <p:nvPr/>
          </p:nvSpPr>
          <p:spPr>
            <a:xfrm>
              <a:off x="3488881" y="4211501"/>
              <a:ext cx="101662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Potentiometer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3BAD572-72B5-5076-838D-EA8423077729}"/>
                </a:ext>
              </a:extLst>
            </p:cNvPr>
            <p:cNvSpPr txBox="1"/>
            <p:nvPr/>
          </p:nvSpPr>
          <p:spPr>
            <a:xfrm>
              <a:off x="7397159" y="1792770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620 Ohm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2BF94F8-E568-B946-9572-A91A689E555B}"/>
                </a:ext>
              </a:extLst>
            </p:cNvPr>
            <p:cNvSpPr txBox="1"/>
            <p:nvPr/>
          </p:nvSpPr>
          <p:spPr>
            <a:xfrm>
              <a:off x="7376341" y="2264653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620 Ohm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97F979A-9C91-5F64-359C-653145C3F738}"/>
                </a:ext>
              </a:extLst>
            </p:cNvPr>
            <p:cNvSpPr txBox="1"/>
            <p:nvPr/>
          </p:nvSpPr>
          <p:spPr>
            <a:xfrm>
              <a:off x="7376341" y="2707700"/>
              <a:ext cx="63831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620 Ohm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B1032A-24CB-4B5C-F16C-B22029112679}"/>
                </a:ext>
              </a:extLst>
            </p:cNvPr>
            <p:cNvSpPr txBox="1"/>
            <p:nvPr/>
          </p:nvSpPr>
          <p:spPr>
            <a:xfrm>
              <a:off x="3809922" y="3150804"/>
              <a:ext cx="64312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10K Ohm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82A21E2-05EE-6D9D-FF88-208483803151}"/>
              </a:ext>
            </a:extLst>
          </p:cNvPr>
          <p:cNvSpPr txBox="1"/>
          <p:nvPr/>
        </p:nvSpPr>
        <p:spPr>
          <a:xfrm>
            <a:off x="3205370" y="4681357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826A33-87FF-DEC2-A820-4786027E3800}"/>
              </a:ext>
            </a:extLst>
          </p:cNvPr>
          <p:cNvSpPr txBox="1"/>
          <p:nvPr/>
        </p:nvSpPr>
        <p:spPr>
          <a:xfrm>
            <a:off x="3441748" y="4983116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82A8CA-B1E5-3CF4-B031-EB61C1428555}"/>
              </a:ext>
            </a:extLst>
          </p:cNvPr>
          <p:cNvSpPr txBox="1"/>
          <p:nvPr/>
        </p:nvSpPr>
        <p:spPr>
          <a:xfrm>
            <a:off x="2995270" y="5452458"/>
            <a:ext cx="209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837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5842" y="43007"/>
            <a:ext cx="391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ESP32 Analog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218" y="778444"/>
            <a:ext cx="79724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Exercise 4:</a:t>
            </a:r>
            <a:r>
              <a:rPr lang="en-US" sz="2400" dirty="0"/>
              <a:t>  Combine analog &amp; digital inputs</a:t>
            </a:r>
          </a:p>
          <a:p>
            <a:endParaRPr lang="en-US" sz="2400" dirty="0"/>
          </a:p>
          <a:p>
            <a:r>
              <a:rPr lang="en-US" sz="2400" dirty="0"/>
              <a:t>Modify your chasing LEDs sketch to make it:</a:t>
            </a:r>
          </a:p>
          <a:p>
            <a:r>
              <a:rPr lang="en-US" sz="2400" dirty="0"/>
              <a:t>	- chasing speed controllable using potentiometer</a:t>
            </a:r>
          </a:p>
          <a:p>
            <a:r>
              <a:rPr lang="en-US" sz="2400" dirty="0"/>
              <a:t>	- chasing direction switchable using push-button</a:t>
            </a:r>
          </a:p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7970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AED7-08C9-74BA-EB6D-B0D75EC8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465A76-FCE9-2D9B-A2CC-73CB8A4038FF}"/>
              </a:ext>
            </a:extLst>
          </p:cNvPr>
          <p:cNvSpPr txBox="1"/>
          <p:nvPr/>
        </p:nvSpPr>
        <p:spPr>
          <a:xfrm>
            <a:off x="710694" y="48906"/>
            <a:ext cx="7701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DHT11 Digital Temperature &amp; Humidity Sensor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3576A-DFAD-F2D0-C8BB-CD739176F5C7}"/>
              </a:ext>
            </a:extLst>
          </p:cNvPr>
          <p:cNvSpPr txBox="1"/>
          <p:nvPr/>
        </p:nvSpPr>
        <p:spPr>
          <a:xfrm>
            <a:off x="323545" y="771517"/>
            <a:ext cx="8682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Specifications: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Temperature 0-50</a:t>
            </a:r>
            <a:r>
              <a:rPr lang="en-US" sz="2400" baseline="30000" dirty="0"/>
              <a:t>o</a:t>
            </a:r>
            <a:r>
              <a:rPr lang="en-US" sz="2400" dirty="0"/>
              <a:t>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Humidity 20-80%</a:t>
            </a:r>
          </a:p>
          <a:p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320" y="1902157"/>
            <a:ext cx="2673460" cy="30536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2A21E2-05EE-6D9D-FF88-208483803151}"/>
              </a:ext>
            </a:extLst>
          </p:cNvPr>
          <p:cNvSpPr txBox="1"/>
          <p:nvPr/>
        </p:nvSpPr>
        <p:spPr>
          <a:xfrm>
            <a:off x="4095986" y="4725009"/>
            <a:ext cx="931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7030A0"/>
                </a:solidFill>
                <a:sym typeface="Wingdings" panose="05000000000000000000" pitchFamily="2" charset="2"/>
              </a:rPr>
              <a:t>Signal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A21E2-05EE-6D9D-FF88-208483803151}"/>
              </a:ext>
            </a:extLst>
          </p:cNvPr>
          <p:cNvSpPr txBox="1"/>
          <p:nvPr/>
        </p:nvSpPr>
        <p:spPr>
          <a:xfrm>
            <a:off x="4910236" y="4708814"/>
            <a:ext cx="931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3V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A21E2-05EE-6D9D-FF88-208483803151}"/>
              </a:ext>
            </a:extLst>
          </p:cNvPr>
          <p:cNvSpPr txBox="1"/>
          <p:nvPr/>
        </p:nvSpPr>
        <p:spPr>
          <a:xfrm>
            <a:off x="5375837" y="4378761"/>
            <a:ext cx="931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ym typeface="Wingdings" panose="05000000000000000000" pitchFamily="2" charset="2"/>
              </a:rPr>
              <a:t>GND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20930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AED7-08C9-74BA-EB6D-B0D75EC8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465A76-FCE9-2D9B-A2CC-73CB8A4038FF}"/>
              </a:ext>
            </a:extLst>
          </p:cNvPr>
          <p:cNvSpPr txBox="1"/>
          <p:nvPr/>
        </p:nvSpPr>
        <p:spPr>
          <a:xfrm>
            <a:off x="710694" y="48906"/>
            <a:ext cx="7701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DHT11 Digital Temperature &amp; Humidity Sensor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3576A-DFAD-F2D0-C8BB-CD739176F5C7}"/>
              </a:ext>
            </a:extLst>
          </p:cNvPr>
          <p:cNvSpPr txBox="1"/>
          <p:nvPr/>
        </p:nvSpPr>
        <p:spPr>
          <a:xfrm>
            <a:off x="323545" y="771517"/>
            <a:ext cx="86828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Blinking 3 external LEDs</a:t>
            </a:r>
          </a:p>
          <a:p>
            <a:endParaRPr lang="en-US" sz="24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07011FD-FA4A-7EE2-70BD-04FB0D17E9E0}"/>
              </a:ext>
            </a:extLst>
          </p:cNvPr>
          <p:cNvGrpSpPr/>
          <p:nvPr/>
        </p:nvGrpSpPr>
        <p:grpSpPr>
          <a:xfrm>
            <a:off x="861686" y="1717184"/>
            <a:ext cx="4672355" cy="4270787"/>
            <a:chOff x="1273782" y="2766640"/>
            <a:chExt cx="3865222" cy="344027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3A3AB98-4816-7E7B-2EFE-0397A5E63E32}"/>
                </a:ext>
              </a:extLst>
            </p:cNvPr>
            <p:cNvSpPr/>
            <p:nvPr/>
          </p:nvSpPr>
          <p:spPr>
            <a:xfrm>
              <a:off x="1273782" y="3106660"/>
              <a:ext cx="1480457" cy="3100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6ED174-C785-FF6C-B71C-874E2742A111}"/>
                </a:ext>
              </a:extLst>
            </p:cNvPr>
            <p:cNvSpPr txBox="1"/>
            <p:nvPr/>
          </p:nvSpPr>
          <p:spPr>
            <a:xfrm>
              <a:off x="1657099" y="2766640"/>
              <a:ext cx="822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ESP32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4A4BEE-551F-9F90-37CB-7E01ECF18934}"/>
                </a:ext>
              </a:extLst>
            </p:cNvPr>
            <p:cNvGrpSpPr/>
            <p:nvPr/>
          </p:nvGrpSpPr>
          <p:grpSpPr>
            <a:xfrm>
              <a:off x="2754239" y="2951306"/>
              <a:ext cx="2010945" cy="476742"/>
              <a:chOff x="6781033" y="1723520"/>
              <a:chExt cx="2010945" cy="476742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C83CECC-DF35-4439-44B7-B20D563E6F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0" name="Picture 9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7C4AB57-DF25-0DEC-3F27-F58BBFA06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11" name="Picture 10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B9E851C8-C7B7-7B86-7AF0-8DE0EDA7B8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4E6A446-943E-A47B-5035-2D5E367CB7C2}"/>
                </a:ext>
              </a:extLst>
            </p:cNvPr>
            <p:cNvGrpSpPr/>
            <p:nvPr/>
          </p:nvGrpSpPr>
          <p:grpSpPr>
            <a:xfrm>
              <a:off x="2754239" y="3428048"/>
              <a:ext cx="2010945" cy="476742"/>
              <a:chOff x="6781033" y="1723520"/>
              <a:chExt cx="2010945" cy="47674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0860CB8-1395-F68F-A74F-FC9AE2F1F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5" name="Picture 1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3A0EF66-E9E6-85D8-144A-07CF0FA70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18" name="Picture 1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565624BA-BED2-B74A-ABE0-4719EFEAA4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736CD0C-C31D-3A15-B4F8-1DFF77A49B73}"/>
                </a:ext>
              </a:extLst>
            </p:cNvPr>
            <p:cNvGrpSpPr/>
            <p:nvPr/>
          </p:nvGrpSpPr>
          <p:grpSpPr>
            <a:xfrm>
              <a:off x="2754239" y="3881299"/>
              <a:ext cx="2010945" cy="476742"/>
              <a:chOff x="6781033" y="1723520"/>
              <a:chExt cx="2010945" cy="476742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50E1440-341B-A9CD-C047-D8A0CED419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033" y="2063540"/>
                <a:ext cx="55563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3" name="Picture 22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AA301EA-4A40-27F9-CCB3-8765902B2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3"/>
                  </a:ext>
                </a:extLst>
              </a:blip>
              <a:stretch>
                <a:fillRect/>
              </a:stretch>
            </p:blipFill>
            <p:spPr>
              <a:xfrm>
                <a:off x="7054736" y="1974770"/>
                <a:ext cx="1232079" cy="177540"/>
              </a:xfrm>
              <a:prstGeom prst="rect">
                <a:avLst/>
              </a:prstGeom>
            </p:spPr>
          </p:pic>
          <p:pic>
            <p:nvPicPr>
              <p:cNvPr id="25" name="Picture 24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8CD27E3-92E5-C7C4-84FB-60663B4B3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8080754" y="1723520"/>
                <a:ext cx="711224" cy="476742"/>
              </a:xfrm>
              <a:prstGeom prst="rect">
                <a:avLst/>
              </a:prstGeom>
            </p:spPr>
          </p:pic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4653BFB-360A-9BFF-658E-6140B3DA80AD}"/>
                </a:ext>
              </a:extLst>
            </p:cNvPr>
            <p:cNvCxnSpPr>
              <a:cxnSpLocks/>
            </p:cNvCxnSpPr>
            <p:nvPr/>
          </p:nvCxnSpPr>
          <p:spPr>
            <a:xfrm>
              <a:off x="4735133" y="3291326"/>
              <a:ext cx="0" cy="12248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5F2463-2404-F4D1-2F3F-E40497E6F29F}"/>
                </a:ext>
              </a:extLst>
            </p:cNvPr>
            <p:cNvGrpSpPr/>
            <p:nvPr/>
          </p:nvGrpSpPr>
          <p:grpSpPr>
            <a:xfrm>
              <a:off x="4653567" y="4416164"/>
              <a:ext cx="485437" cy="200055"/>
              <a:chOff x="8680361" y="3188378"/>
              <a:chExt cx="485437" cy="200055"/>
            </a:xfrm>
          </p:grpSpPr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E493B72-FEDA-DACF-DD51-05715D9B2523}"/>
                  </a:ext>
                </a:extLst>
              </p:cNvPr>
              <p:cNvCxnSpPr/>
              <p:nvPr/>
            </p:nvCxnSpPr>
            <p:spPr>
              <a:xfrm>
                <a:off x="8680361" y="3288406"/>
                <a:ext cx="158839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AA17E8-AAC5-6197-8589-97C8D50384E8}"/>
                  </a:ext>
                </a:extLst>
              </p:cNvPr>
              <p:cNvSpPr txBox="1"/>
              <p:nvPr/>
            </p:nvSpPr>
            <p:spPr>
              <a:xfrm>
                <a:off x="8791978" y="3188378"/>
                <a:ext cx="37382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700" dirty="0"/>
                  <a:t>GND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1481350F-657A-12AF-B414-8AAC5DA02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7191" y="3329189"/>
                <a:ext cx="105177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6D8A18B-F7A6-EABB-7097-1794AEBFE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28655" y="3379847"/>
                <a:ext cx="6117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5793F43-F63F-349A-1FB6-746DB1027A08}"/>
                </a:ext>
              </a:extLst>
            </p:cNvPr>
            <p:cNvSpPr/>
            <p:nvPr/>
          </p:nvSpPr>
          <p:spPr>
            <a:xfrm>
              <a:off x="4691664" y="3720658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BF7E12B-543E-1F06-8673-D91B389134E0}"/>
                </a:ext>
              </a:extLst>
            </p:cNvPr>
            <p:cNvSpPr/>
            <p:nvPr/>
          </p:nvSpPr>
          <p:spPr>
            <a:xfrm>
              <a:off x="4686832" y="3246204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1841D60-6A4C-B89A-F5E0-DB5C85946FCA}"/>
                </a:ext>
              </a:extLst>
            </p:cNvPr>
            <p:cNvSpPr/>
            <p:nvPr/>
          </p:nvSpPr>
          <p:spPr>
            <a:xfrm>
              <a:off x="4691664" y="4166224"/>
              <a:ext cx="81567" cy="81566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23167D8D-8CF8-AD10-8CA4-247DA437AC7E}"/>
                </a:ext>
              </a:extLst>
            </p:cNvPr>
            <p:cNvSpPr/>
            <p:nvPr/>
          </p:nvSpPr>
          <p:spPr>
            <a:xfrm rot="5400000">
              <a:off x="4276768" y="3201509"/>
              <a:ext cx="247014" cy="206064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30966D82-9417-732E-F9CE-6120CBE3C73D}"/>
                </a:ext>
              </a:extLst>
            </p:cNvPr>
            <p:cNvSpPr/>
            <p:nvPr/>
          </p:nvSpPr>
          <p:spPr>
            <a:xfrm rot="5400000">
              <a:off x="4276768" y="3668624"/>
              <a:ext cx="247014" cy="206064"/>
            </a:xfrm>
            <a:prstGeom prst="triangl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1E55E21A-58A0-DD42-C665-472585F97C4B}"/>
                </a:ext>
              </a:extLst>
            </p:cNvPr>
            <p:cNvSpPr/>
            <p:nvPr/>
          </p:nvSpPr>
          <p:spPr>
            <a:xfrm rot="5400000">
              <a:off x="4276768" y="4118287"/>
              <a:ext cx="247014" cy="206064"/>
            </a:xfrm>
            <a:prstGeom prst="triangl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693259-FAE8-9843-04D8-A149822C6778}"/>
                </a:ext>
              </a:extLst>
            </p:cNvPr>
            <p:cNvSpPr txBox="1"/>
            <p:nvPr/>
          </p:nvSpPr>
          <p:spPr>
            <a:xfrm>
              <a:off x="2386230" y="3159837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B9CC4E6-BAB9-F45C-8ABC-F52CF79256B2}"/>
                </a:ext>
              </a:extLst>
            </p:cNvPr>
            <p:cNvSpPr txBox="1"/>
            <p:nvPr/>
          </p:nvSpPr>
          <p:spPr>
            <a:xfrm>
              <a:off x="2400675" y="3644105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FF81C13-DC50-AA15-4366-08D7BE1FB400}"/>
                </a:ext>
              </a:extLst>
            </p:cNvPr>
            <p:cNvSpPr txBox="1"/>
            <p:nvPr/>
          </p:nvSpPr>
          <p:spPr>
            <a:xfrm>
              <a:off x="2393998" y="4090443"/>
              <a:ext cx="395440" cy="247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D21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227E18-D4F2-C0AA-96DC-135D3E5A73A7}"/>
                </a:ext>
              </a:extLst>
            </p:cNvPr>
            <p:cNvSpPr txBox="1"/>
            <p:nvPr/>
          </p:nvSpPr>
          <p:spPr>
            <a:xfrm>
              <a:off x="3387392" y="2991819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5EACE3-7CFC-7B54-45A3-DC1322ED7C06}"/>
                </a:ext>
              </a:extLst>
            </p:cNvPr>
            <p:cNvSpPr txBox="1"/>
            <p:nvPr/>
          </p:nvSpPr>
          <p:spPr>
            <a:xfrm>
              <a:off x="3367608" y="3478595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F045132-B515-EDC2-4396-D71379F99B3A}"/>
                </a:ext>
              </a:extLst>
            </p:cNvPr>
            <p:cNvSpPr txBox="1"/>
            <p:nvPr/>
          </p:nvSpPr>
          <p:spPr>
            <a:xfrm>
              <a:off x="3349547" y="3935486"/>
              <a:ext cx="589049" cy="2107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620 Ohm</a:t>
              </a:r>
            </a:p>
          </p:txBody>
        </p:sp>
      </p:grpSp>
      <p:pic>
        <p:nvPicPr>
          <p:cNvPr id="54" name="Picture 5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629" y="3002769"/>
            <a:ext cx="1798538" cy="205433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7288306" y="4939419"/>
            <a:ext cx="13447" cy="520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2651291" y="5459506"/>
            <a:ext cx="46504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69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1161</Words>
  <Application>Microsoft Office PowerPoint</Application>
  <PresentationFormat>On-screen Show (4:3)</PresentationFormat>
  <Paragraphs>525</Paragraphs>
  <Slides>39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Calibri</vt:lpstr>
      <vt:lpstr>DejaVu Sans</vt:lpstr>
      <vt:lpstr>tahoma</vt:lpstr>
      <vt:lpstr>TH Sarabun New</vt:lpstr>
      <vt:lpstr>Times New Roman</vt:lpstr>
      <vt:lpstr>WenQuanYi Micro Hei</vt:lpstr>
      <vt:lpstr>Wingdings</vt:lpstr>
      <vt:lpstr>Office Theme</vt:lpstr>
      <vt:lpstr>  Arduino Workshop (ESP32 Basic Level)     ดร. วาธิส ลีลาภัทร ภาควิชาวิศวกรรมคอมพิวเตอร์ คณะวิศวกรรมศาสตร์ มหาวิทยาลัยขอนแก่น</vt:lpstr>
      <vt:lpstr>Hardware : ESP32</vt:lpstr>
      <vt:lpstr>Hardware : ESP32</vt:lpstr>
      <vt:lpstr>ESP32 DEVKIT</vt:lpstr>
      <vt:lpstr>ESP32 DEVKIT</vt:lpstr>
      <vt:lpstr>Software</vt:lpstr>
      <vt:lpstr>Add ESP32 Board Support</vt:lpstr>
      <vt:lpstr>Add ESP32 Board Support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ESP32 Extension Board</vt:lpstr>
      <vt:lpstr>Circuit Construction</vt:lpstr>
      <vt:lpstr>Circuit Construction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Internet of Things (IoT) for Civil Engineers</dc:title>
  <dc:creator>Windows User</dc:creator>
  <cp:lastModifiedBy>Watis</cp:lastModifiedBy>
  <cp:revision>63</cp:revision>
  <dcterms:created xsi:type="dcterms:W3CDTF">2020-07-09T04:35:51Z</dcterms:created>
  <dcterms:modified xsi:type="dcterms:W3CDTF">2024-11-16T04:20:03Z</dcterms:modified>
</cp:coreProperties>
</file>